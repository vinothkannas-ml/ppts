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507" r:id="rId5"/>
    <p:sldId id="2147470509" r:id="rId6"/>
    <p:sldId id="2147470510" r:id="rId7"/>
    <p:sldId id="2147470511" r:id="rId8"/>
    <p:sldId id="2147470491" r:id="rId9"/>
    <p:sldId id="214747050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B9ED"/>
    <a:srgbClr val="30BBDA"/>
    <a:srgbClr val="FFFFFF"/>
    <a:srgbClr val="47BDAE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34616" y="1631542"/>
            <a:ext cx="114281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 &amp; Explainable Trust Assessment</a:t>
            </a:r>
          </a:p>
          <a:p>
            <a:pPr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VINOTH KANNA S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00795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Fake news spreads rapidly through social media and digital platforms.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Traditional fact-checking is slow and difficult to scale.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Existing AI models often give results without clear reasoning.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This project uses Agentic AI to verify claims, collect evidence, and provide an explainable trust score.</a:t>
            </a:r>
          </a:p>
          <a:p>
            <a:pPr>
              <a:lnSpc>
                <a:spcPct val="150000"/>
              </a:lnSpc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456411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Build a Multi-Agent System – Use Claim Extraction Agent, Evidence Retrieval Agent, Source Credibility Agent, Cross-Reference Agent, and Verdict Agent for automated fact-checking.</a:t>
            </a:r>
          </a:p>
          <a:p>
            <a:pPr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Verify Claims – Analyze evidence and source credibility through cross-checking.</a:t>
            </a:r>
          </a:p>
          <a:p>
            <a:pPr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Generate Trust Scores – Provide explainable trust scores with confidence levels.</a:t>
            </a:r>
          </a:p>
          <a:p>
            <a:pPr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Reduce Bias &amp; Ensure Auditability – Use self-checking and maintain an evidence trail.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F2F8-1270-0746-D6B7-A08E1E35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B07006-C44A-23BA-A9FE-BB6E30AF34A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2D340-ABF6-A9A7-E651-5237BE0FC5B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080F99F-A6A5-4331-1E92-E59CA59A156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5C57F1B7-4026-42B4-71BB-C506A6796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4D2F855-6E0A-D43C-861D-BBFED37ED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05362"/>
              </p:ext>
            </p:extLst>
          </p:nvPr>
        </p:nvGraphicFramePr>
        <p:xfrm>
          <a:off x="952107" y="1350391"/>
          <a:ext cx="10454326" cy="4797540"/>
        </p:xfrm>
        <a:graphic>
          <a:graphicData uri="http://schemas.openxmlformats.org/drawingml/2006/table">
            <a:tbl>
              <a:tblPr/>
              <a:tblGrid>
                <a:gridCol w="3186260">
                  <a:extLst>
                    <a:ext uri="{9D8B030D-6E8A-4147-A177-3AD203B41FA5}">
                      <a16:colId xmlns:a16="http://schemas.microsoft.com/office/drawing/2014/main" val="2721944293"/>
                    </a:ext>
                  </a:extLst>
                </a:gridCol>
                <a:gridCol w="7268066">
                  <a:extLst>
                    <a:ext uri="{9D8B030D-6E8A-4147-A177-3AD203B41FA5}">
                      <a16:colId xmlns:a16="http://schemas.microsoft.com/office/drawing/2014/main" val="4013192510"/>
                    </a:ext>
                  </a:extLst>
                </a:gridCol>
              </a:tblGrid>
              <a:tr h="26269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 dirty="0"/>
                        <a:t>Module Name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9E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300" b="1" dirty="0"/>
                        <a:t>Subtopic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B9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932636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Claim Extraction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Parsing input into atomic, checkable claims; separating fact from opinion; detecting implicit/misleading framing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928298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Context &amp; Provenance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Tracing content origin, publisher history, reverse-image/video matching, manipulation detection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785881"/>
                  </a:ext>
                </a:extLst>
              </a:tr>
              <a:tr h="65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Evidence Retrieval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Querying search engines and fact-check databases per claim; retrieving both supporting and contradicting evidence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870223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Source Credibility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Scoring sources on accuracy track record, editorial transparency, and domain reputation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836709"/>
                  </a:ext>
                </a:extLst>
              </a:tr>
              <a:tr h="656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Cross-Referencing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Comparing claims against evidence; classifying support/contradict/unverifiable; detecting logical fallacies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423320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Linguistic &amp; Behavioral Signal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Detecting emotional manipulation, clickbait, false urgency as supplementary risk indicators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752140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Adversarial Review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Devil's-advocate agent that challenges the draft conclusion to surface weak reasoning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012662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Trust Aggregation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Combining all signals via a transparent weighted rubric into a final trust score with confidence interval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1914131"/>
                  </a:ext>
                </a:extLst>
              </a:tr>
              <a:tr h="459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Explainability &amp; Reporting Module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Generating human-readable rationale, evidence citations, and audit trail for every verdict</a:t>
                      </a:r>
                    </a:p>
                  </a:txBody>
                  <a:tcPr marL="65675" marR="65675" marT="32837" marB="3283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4080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F59ECE7-F508-B1EF-3CB3-3A8B0CB8FC1B}"/>
              </a:ext>
            </a:extLst>
          </p:cNvPr>
          <p:cNvSpPr txBox="1"/>
          <p:nvPr/>
        </p:nvSpPr>
        <p:spPr>
          <a:xfrm>
            <a:off x="4081808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   Agentic AI Multi-Agent Architecture for Automated Fake News Verification</a:t>
            </a:r>
          </a:p>
        </p:txBody>
      </p:sp>
    </p:spTree>
    <p:extLst>
      <p:ext uri="{BB962C8B-B14F-4D97-AF65-F5344CB8AC3E}">
        <p14:creationId xmlns:p14="http://schemas.microsoft.com/office/powerpoint/2010/main" val="4043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8D9A8-1495-965F-3649-3D9EFA7FF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1391" y="488123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Methodology</a:t>
            </a:r>
            <a:endParaRPr lang="en-IN" sz="3600" dirty="0">
              <a:solidFill>
                <a:srgbClr val="5B9BD5">
                  <a:lumMod val="50000"/>
                </a:srgb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E25E5685-5E87-05EB-FBCB-C78313A8C8A7}"/>
              </a:ext>
            </a:extLst>
          </p:cNvPr>
          <p:cNvSpPr/>
          <p:nvPr/>
        </p:nvSpPr>
        <p:spPr>
          <a:xfrm>
            <a:off x="548640" y="1554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 w="12700">
            <a:solidFill>
              <a:srgbClr val="DCEAEA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B2505EC3-DE51-AD94-9330-8A3514A9B302}"/>
              </a:ext>
            </a:extLst>
          </p:cNvPr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95116378-8DC3-86A1-E82F-C7FD70120776}"/>
              </a:ext>
            </a:extLst>
          </p:cNvPr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>
              <a:latin typeface="+mj-lt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2F7E1C4-5E95-F5E4-4DE2-DFA2EEF19EEB}"/>
              </a:ext>
            </a:extLst>
          </p:cNvPr>
          <p:cNvSpPr txBox="1"/>
          <p:nvPr/>
        </p:nvSpPr>
        <p:spPr>
          <a:xfrm>
            <a:off x="1463040" y="18105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B40"/>
                </a:solidFill>
                <a:latin typeface="+mj-lt"/>
                <a:ea typeface="Cambria" pitchFamily="34" charset="-122"/>
                <a:cs typeface="Cambria" pitchFamily="34" charset="-120"/>
              </a:rPr>
              <a:t>Evidence Over Assertion</a:t>
            </a:r>
            <a:endParaRPr lang="en-US" sz="1700" dirty="0">
              <a:latin typeface="+mj-lt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85BE1013-DF55-BEDD-72EC-BB6DA509375B}"/>
              </a:ext>
            </a:extLst>
          </p:cNvPr>
          <p:cNvSpPr txBox="1"/>
          <p:nvPr/>
        </p:nvSpPr>
        <p:spPr>
          <a:xfrm>
            <a:off x="822960" y="2423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+mj-lt"/>
                <a:ea typeface="Calibri" pitchFamily="34" charset="-122"/>
                <a:cs typeface="Calibri" pitchFamily="34" charset="-120"/>
              </a:rPr>
              <a:t>The pipeline never guesses truth directly. It gathers real, citable evidence from independent sources and scores that evidence instead.</a:t>
            </a:r>
            <a:endParaRPr lang="en-US" sz="1250" dirty="0">
              <a:latin typeface="+mj-lt"/>
            </a:endParaRPr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1F26B1C1-BCB9-44E2-1438-9FF92052011F}"/>
              </a:ext>
            </a:extLst>
          </p:cNvPr>
          <p:cNvSpPr/>
          <p:nvPr/>
        </p:nvSpPr>
        <p:spPr>
          <a:xfrm>
            <a:off x="6172200" y="155448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 w="12700">
            <a:solidFill>
              <a:srgbClr val="DCEAEA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154087B6-1F27-F7BB-77D9-65CFBF2E0352}"/>
              </a:ext>
            </a:extLst>
          </p:cNvPr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6CFB1602-63E1-9E6A-BCF0-7CDF66FB1157}"/>
              </a:ext>
            </a:extLst>
          </p:cNvPr>
          <p:cNvSpPr txBox="1"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>
              <a:latin typeface="+mj-lt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37E8716-B54E-6FC4-A471-C8FB01C50F39}"/>
              </a:ext>
            </a:extLst>
          </p:cNvPr>
          <p:cNvSpPr txBox="1"/>
          <p:nvPr/>
        </p:nvSpPr>
        <p:spPr>
          <a:xfrm>
            <a:off x="7086600" y="181051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B40"/>
                </a:solidFill>
                <a:latin typeface="+mj-lt"/>
                <a:ea typeface="Cambria" pitchFamily="34" charset="-122"/>
                <a:cs typeface="Cambria" pitchFamily="34" charset="-120"/>
              </a:rPr>
              <a:t>Specialized Agents</a:t>
            </a:r>
            <a:endParaRPr lang="en-US" sz="1700" dirty="0">
              <a:latin typeface="+mj-lt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9E39179F-1738-3622-BB66-D583E3F8F45C}"/>
              </a:ext>
            </a:extLst>
          </p:cNvPr>
          <p:cNvSpPr txBox="1"/>
          <p:nvPr/>
        </p:nvSpPr>
        <p:spPr>
          <a:xfrm>
            <a:off x="6446520" y="2423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+mj-lt"/>
                <a:ea typeface="Calibri" pitchFamily="34" charset="-122"/>
                <a:cs typeface="Calibri" pitchFamily="34" charset="-120"/>
              </a:rPr>
              <a:t>Each pipeline stage - ingestion, search, scoring, explanation - is an independent, single-purpose agent with its own inputs, outputs, and failure handling.</a:t>
            </a:r>
            <a:endParaRPr lang="en-US" sz="1250" dirty="0">
              <a:latin typeface="+mj-lt"/>
            </a:endParaRPr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257D08D7-154D-E134-265F-CB086D4788AC}"/>
              </a:ext>
            </a:extLst>
          </p:cNvPr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 w="12700">
            <a:solidFill>
              <a:srgbClr val="DCEAEA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6B3FEC52-3B73-6158-2D2A-259B202A0056}"/>
              </a:ext>
            </a:extLst>
          </p:cNvPr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785F529-96F6-DFD5-76EA-7429E44F0C5B}"/>
              </a:ext>
            </a:extLst>
          </p:cNvPr>
          <p:cNvSpPr txBox="1"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>
              <a:latin typeface="+mj-lt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4049097B-275E-2B1C-866F-7E3A3494DE31}"/>
              </a:ext>
            </a:extLst>
          </p:cNvPr>
          <p:cNvSpPr txBox="1"/>
          <p:nvPr/>
        </p:nvSpPr>
        <p:spPr>
          <a:xfrm>
            <a:off x="1463040" y="4187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B40"/>
                </a:solidFill>
                <a:latin typeface="+mj-lt"/>
                <a:ea typeface="Cambria" pitchFamily="34" charset="-122"/>
                <a:cs typeface="Cambria" pitchFamily="34" charset="-120"/>
              </a:rPr>
              <a:t>Transparent, Weighted Rubric</a:t>
            </a:r>
            <a:endParaRPr lang="en-US" sz="1700" dirty="0">
              <a:latin typeface="+mj-lt"/>
            </a:endParaRPr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5E1A8665-1ABD-1E5A-F048-7CDCCBD2C4D6}"/>
              </a:ext>
            </a:extLst>
          </p:cNvPr>
          <p:cNvSpPr txBox="1"/>
          <p:nvPr/>
        </p:nvSpPr>
        <p:spPr>
          <a:xfrm>
            <a:off x="82296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+mj-lt"/>
                <a:ea typeface="Calibri" pitchFamily="34" charset="-122"/>
                <a:cs typeface="Calibri" pitchFamily="34" charset="-120"/>
              </a:rPr>
              <a:t>A composite 0-100 Trust Score is built from four weighted factors: Source Evidence (40%), Content Consistency (25%), Media Authenticity (20%), Fact-Check Alignment (15%).</a:t>
            </a:r>
            <a:endParaRPr lang="en-US" sz="1250" dirty="0">
              <a:latin typeface="+mj-lt"/>
            </a:endParaRPr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A8A82622-1B0C-BD78-39C0-930FCEABEF54}"/>
              </a:ext>
            </a:extLst>
          </p:cNvPr>
          <p:cNvSpPr/>
          <p:nvPr/>
        </p:nvSpPr>
        <p:spPr>
          <a:xfrm>
            <a:off x="6172200" y="393192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F4FAFA"/>
          </a:solidFill>
          <a:ln w="12700">
            <a:solidFill>
              <a:srgbClr val="DCEAEA"/>
            </a:solidFill>
            <a:prstDash val="solid"/>
          </a:ln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41" name="Shape 18">
            <a:extLst>
              <a:ext uri="{FF2B5EF4-FFF2-40B4-BE49-F238E27FC236}">
                <a16:creationId xmlns:a16="http://schemas.microsoft.com/office/drawing/2014/main" id="{D27DAB8D-056B-AF3B-770D-664C1EC20223}"/>
              </a:ext>
            </a:extLst>
          </p:cNvPr>
          <p:cNvSpPr/>
          <p:nvPr/>
        </p:nvSpPr>
        <p:spPr>
          <a:xfrm>
            <a:off x="6446520" y="42062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>
              <a:latin typeface="+mj-lt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46E3FB8B-D874-4337-8BC9-ACF19BFE35C1}"/>
              </a:ext>
            </a:extLst>
          </p:cNvPr>
          <p:cNvSpPr txBox="1"/>
          <p:nvPr/>
        </p:nvSpPr>
        <p:spPr>
          <a:xfrm>
            <a:off x="64465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>
              <a:latin typeface="+mj-lt"/>
            </a:endParaRPr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2559C3FA-1EC1-F582-4633-0520D863FEDC}"/>
              </a:ext>
            </a:extLst>
          </p:cNvPr>
          <p:cNvSpPr txBox="1"/>
          <p:nvPr/>
        </p:nvSpPr>
        <p:spPr>
          <a:xfrm>
            <a:off x="7086600" y="418795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13B40"/>
                </a:solidFill>
                <a:latin typeface="+mj-lt"/>
                <a:ea typeface="Cambria" pitchFamily="34" charset="-122"/>
                <a:cs typeface="Cambria" pitchFamily="34" charset="-120"/>
              </a:rPr>
              <a:t>Explainable by Design</a:t>
            </a:r>
            <a:endParaRPr lang="en-US" sz="1700" dirty="0">
              <a:latin typeface="+mj-lt"/>
            </a:endParaRPr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92466340-40CE-DC2E-BAAB-62F2B66D09BD}"/>
              </a:ext>
            </a:extLst>
          </p:cNvPr>
          <p:cNvSpPr txBox="1"/>
          <p:nvPr/>
        </p:nvSpPr>
        <p:spPr>
          <a:xfrm>
            <a:off x="6446520" y="48006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6454F"/>
                </a:solidFill>
                <a:latin typeface="+mj-lt"/>
                <a:ea typeface="Calibri" pitchFamily="34" charset="-122"/>
                <a:cs typeface="Calibri" pitchFamily="34" charset="-120"/>
              </a:rPr>
              <a:t>Every verdict ships with its factor breakdown, matched sources, and a plain-language AI summary - never a bare true/false label.</a:t>
            </a:r>
            <a:endParaRPr lang="en-US" sz="1250" dirty="0">
              <a:latin typeface="+mj-lt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647C14-E22B-DE56-1052-9DE63FCC60D6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1" name="Picture 50" descr="LTM Limited (Formerly LTIMindtree Limited)">
            <a:extLst>
              <a:ext uri="{FF2B5EF4-FFF2-40B4-BE49-F238E27FC236}">
                <a16:creationId xmlns:a16="http://schemas.microsoft.com/office/drawing/2014/main" id="{AA6FAB58-83CC-147C-38C1-C17802E89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71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C2333E8B-B1AE-1413-BF17-F923C6644F81}"/>
              </a:ext>
            </a:extLst>
          </p:cNvPr>
          <p:cNvSpPr txBox="1"/>
          <p:nvPr/>
        </p:nvSpPr>
        <p:spPr>
          <a:xfrm>
            <a:off x="548640" y="47548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a typeface="Cambria" panose="02040503050406030204" pitchFamily="18" charset="0"/>
                <a:cs typeface="Cambria" pitchFamily="34" charset="-120"/>
              </a:rPr>
              <a:t>Approach, Algorithms &amp; Tools</a:t>
            </a:r>
            <a:endParaRPr lang="en-US" sz="3600" dirty="0">
              <a:solidFill>
                <a:schemeClr val="accent1">
                  <a:lumMod val="7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7B5FF6D8-6BC8-9255-5C9D-A86F9615C16B}"/>
              </a:ext>
            </a:extLst>
          </p:cNvPr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440A0D82-848D-5F3E-DC0F-5B28D988CB19}"/>
              </a:ext>
            </a:extLst>
          </p:cNvPr>
          <p:cNvSpPr txBox="1"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242F7E9-A870-425F-4665-571C43223D6F}"/>
              </a:ext>
            </a:extLst>
          </p:cNvPr>
          <p:cNvSpPr txBox="1"/>
          <p:nvPr/>
        </p:nvSpPr>
        <p:spPr>
          <a:xfrm>
            <a:off x="1051560" y="1216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&amp; Algorithms</a:t>
            </a:r>
            <a:endParaRPr lang="en-US" sz="16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F7976D7-E665-876B-3489-7224231968A7}"/>
              </a:ext>
            </a:extLst>
          </p:cNvPr>
          <p:cNvSpPr/>
          <p:nvPr/>
        </p:nvSpPr>
        <p:spPr>
          <a:xfrm>
            <a:off x="548640" y="1737360"/>
            <a:ext cx="3611880" cy="0"/>
          </a:xfrm>
          <a:prstGeom prst="line">
            <a:avLst/>
          </a:prstGeom>
          <a:noFill/>
          <a:ln w="12700">
            <a:solidFill>
              <a:srgbClr val="DC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B2E89125-5E56-1502-BBDE-B1336A537DF4}"/>
              </a:ext>
            </a:extLst>
          </p:cNvPr>
          <p:cNvSpPr txBox="1"/>
          <p:nvPr/>
        </p:nvSpPr>
        <p:spPr>
          <a:xfrm>
            <a:off x="548640" y="192024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IngestionAgent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URL  / audio parsing + claim extraction</a:t>
            </a:r>
            <a:endParaRPr lang="en-US" sz="12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00D6D29-2FA0-D7F2-2447-1B009C9A5925}"/>
              </a:ext>
            </a:extLst>
          </p:cNvPr>
          <p:cNvSpPr txBox="1"/>
          <p:nvPr/>
        </p:nvSpPr>
        <p:spPr>
          <a:xfrm>
            <a:off x="548640" y="270662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SearchAgent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multi-source retrieval, de-dup &amp; trusted-source ranking</a:t>
            </a:r>
            <a:endParaRPr lang="en-US" sz="12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19E9BE74-125C-690F-FAB5-A0DB3E3067A7}"/>
              </a:ext>
            </a:extLst>
          </p:cNvPr>
          <p:cNvSpPr txBox="1"/>
          <p:nvPr/>
        </p:nvSpPr>
        <p:spPr>
          <a:xfrm>
            <a:off x="548640" y="349300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 err="1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AudioAnalysisAgent</a:t>
            </a: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&amp; object detection; transcription + confidence signals</a:t>
            </a:r>
            <a:endParaRPr lang="en-US" sz="12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8E1E4386-D4A2-BD06-A72F-0F03F155ED4C}"/>
              </a:ext>
            </a:extLst>
          </p:cNvPr>
          <p:cNvSpPr txBox="1"/>
          <p:nvPr/>
        </p:nvSpPr>
        <p:spPr>
          <a:xfrm>
            <a:off x="548640" y="42793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TrustScoringAgent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rubric -&gt; 0-100 score &amp; verdict</a:t>
            </a:r>
            <a:endParaRPr lang="en-US" sz="12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DB16275E-38E7-44F4-B08B-FE33E1F6E8FC}"/>
              </a:ext>
            </a:extLst>
          </p:cNvPr>
          <p:cNvSpPr txBox="1"/>
          <p:nvPr/>
        </p:nvSpPr>
        <p:spPr>
          <a:xfrm>
            <a:off x="548640" y="506577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ExplanationAgent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 summary &amp; recommendations</a:t>
            </a:r>
            <a:endParaRPr lang="en-US" sz="125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2E100D4E-2D85-DD0F-F9CB-5A01F0DE1629}"/>
              </a:ext>
            </a:extLst>
          </p:cNvPr>
          <p:cNvSpPr/>
          <p:nvPr/>
        </p:nvSpPr>
        <p:spPr>
          <a:xfrm>
            <a:off x="4379976" y="12344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C500D16B-B39C-8C27-8923-46B3989BC40F}"/>
              </a:ext>
            </a:extLst>
          </p:cNvPr>
          <p:cNvSpPr txBox="1"/>
          <p:nvPr/>
        </p:nvSpPr>
        <p:spPr>
          <a:xfrm>
            <a:off x="437997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C7C4DBB2-598C-C527-8605-3105869D6E2B}"/>
              </a:ext>
            </a:extLst>
          </p:cNvPr>
          <p:cNvSpPr txBox="1"/>
          <p:nvPr/>
        </p:nvSpPr>
        <p:spPr>
          <a:xfrm>
            <a:off x="4882896" y="1216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Data Sources</a:t>
            </a:r>
            <a:endParaRPr lang="en-US" sz="1600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31AEC745-B799-1A30-8EEF-D847692E120B}"/>
              </a:ext>
            </a:extLst>
          </p:cNvPr>
          <p:cNvSpPr/>
          <p:nvPr/>
        </p:nvSpPr>
        <p:spPr>
          <a:xfrm>
            <a:off x="4379976" y="1737360"/>
            <a:ext cx="3611880" cy="0"/>
          </a:xfrm>
          <a:prstGeom prst="line">
            <a:avLst/>
          </a:prstGeom>
          <a:noFill/>
          <a:ln w="12700">
            <a:solidFill>
              <a:srgbClr val="DC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E62FD97E-BE0C-BA65-15E5-9B3ECE73E285}"/>
              </a:ext>
            </a:extLst>
          </p:cNvPr>
          <p:cNvSpPr txBox="1"/>
          <p:nvPr/>
        </p:nvSpPr>
        <p:spPr>
          <a:xfrm>
            <a:off x="4379976" y="192024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Fact Check engine + web fallback</a:t>
            </a:r>
            <a:endParaRPr lang="en-US" sz="125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E6252FE9-51A6-66BA-18D1-95B3212BBEAB}"/>
              </a:ext>
            </a:extLst>
          </p:cNvPr>
          <p:cNvSpPr txBox="1"/>
          <p:nvPr/>
        </p:nvSpPr>
        <p:spPr>
          <a:xfrm>
            <a:off x="4379976" y="270662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NewsAPI + GNews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news search providers</a:t>
            </a:r>
            <a:endParaRPr lang="en-US" sz="125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B6C59EA9-4E70-9400-5359-D934E66F78D0}"/>
              </a:ext>
            </a:extLst>
          </p:cNvPr>
          <p:cNvSpPr txBox="1"/>
          <p:nvPr/>
        </p:nvSpPr>
        <p:spPr>
          <a:xfrm>
            <a:off x="4379976" y="349300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web &amp; background evidence</a:t>
            </a:r>
            <a:endParaRPr lang="en-US" sz="125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718D0FD8-0004-95E0-3934-F2717AAA1704}"/>
              </a:ext>
            </a:extLst>
          </p:cNvPr>
          <p:cNvSpPr txBox="1"/>
          <p:nvPr/>
        </p:nvSpPr>
        <p:spPr>
          <a:xfrm>
            <a:off x="4379976" y="42793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 err="1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(optional)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captioning &amp; object detection</a:t>
            </a:r>
            <a:endParaRPr lang="en-US" sz="1250" dirty="0"/>
          </a:p>
        </p:txBody>
      </p:sp>
      <p:sp>
        <p:nvSpPr>
          <p:cNvPr id="41" name="Text 18">
            <a:extLst>
              <a:ext uri="{FF2B5EF4-FFF2-40B4-BE49-F238E27FC236}">
                <a16:creationId xmlns:a16="http://schemas.microsoft.com/office/drawing/2014/main" id="{13484DC2-E095-DEB3-A918-AF1ACFD6A251}"/>
              </a:ext>
            </a:extLst>
          </p:cNvPr>
          <p:cNvSpPr txBox="1"/>
          <p:nvPr/>
        </p:nvSpPr>
        <p:spPr>
          <a:xfrm>
            <a:off x="4379976" y="506577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transcription</a:t>
            </a:r>
            <a:endParaRPr lang="en-US" sz="125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4B83C77E-E6D4-F684-908C-1D14C67A70D2}"/>
              </a:ext>
            </a:extLst>
          </p:cNvPr>
          <p:cNvSpPr txBox="1"/>
          <p:nvPr/>
        </p:nvSpPr>
        <p:spPr>
          <a:xfrm>
            <a:off x="4379976" y="585216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70B)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summarization</a:t>
            </a:r>
            <a:endParaRPr lang="en-US" sz="1250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37013D04-384E-1730-C982-5CBB7C3680B5}"/>
              </a:ext>
            </a:extLst>
          </p:cNvPr>
          <p:cNvSpPr/>
          <p:nvPr/>
        </p:nvSpPr>
        <p:spPr>
          <a:xfrm>
            <a:off x="8211312" y="123444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4EA25BB4-07EE-C797-CC52-CE855211791A}"/>
              </a:ext>
            </a:extLst>
          </p:cNvPr>
          <p:cNvSpPr txBox="1"/>
          <p:nvPr/>
        </p:nvSpPr>
        <p:spPr>
          <a:xfrm>
            <a:off x="8211312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5389C71E-C5D3-FAF2-196A-9BE6C729B71C}"/>
              </a:ext>
            </a:extLst>
          </p:cNvPr>
          <p:cNvSpPr txBox="1"/>
          <p:nvPr/>
        </p:nvSpPr>
        <p:spPr>
          <a:xfrm>
            <a:off x="8714232" y="12161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 Stack</a:t>
            </a:r>
            <a:endParaRPr lang="en-US" sz="1600" dirty="0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3386E1F0-3246-5FA2-A337-141AC8CDD971}"/>
              </a:ext>
            </a:extLst>
          </p:cNvPr>
          <p:cNvSpPr/>
          <p:nvPr/>
        </p:nvSpPr>
        <p:spPr>
          <a:xfrm>
            <a:off x="8211312" y="1737360"/>
            <a:ext cx="3611880" cy="0"/>
          </a:xfrm>
          <a:prstGeom prst="line">
            <a:avLst/>
          </a:prstGeom>
          <a:noFill/>
          <a:ln w="12700">
            <a:solidFill>
              <a:srgbClr val="DC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AC94DA36-7A6C-71C2-8FF5-9E424AC7017F}"/>
              </a:ext>
            </a:extLst>
          </p:cNvPr>
          <p:cNvSpPr txBox="1"/>
          <p:nvPr/>
        </p:nvSpPr>
        <p:spPr>
          <a:xfrm>
            <a:off x="8211312" y="192024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FastAPI, SQLAlchemy, SQLite, JWT auth, rate limiting</a:t>
            </a:r>
            <a:endParaRPr lang="en-US" sz="1250" dirty="0"/>
          </a:p>
        </p:txBody>
      </p:sp>
      <p:sp>
        <p:nvSpPr>
          <p:cNvPr id="55" name="Text 25">
            <a:extLst>
              <a:ext uri="{FF2B5EF4-FFF2-40B4-BE49-F238E27FC236}">
                <a16:creationId xmlns:a16="http://schemas.microsoft.com/office/drawing/2014/main" id="{185F0910-D3F3-CAD8-5839-3F16FEF0A160}"/>
              </a:ext>
            </a:extLst>
          </p:cNvPr>
          <p:cNvSpPr txBox="1"/>
          <p:nvPr/>
        </p:nvSpPr>
        <p:spPr>
          <a:xfrm>
            <a:off x="8211312" y="270662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asyncio - agents run concurrently, not in series</a:t>
            </a:r>
            <a:endParaRPr lang="en-US" sz="125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4327106B-F159-FD36-EF27-37123E9558F5}"/>
              </a:ext>
            </a:extLst>
          </p:cNvPr>
          <p:cNvSpPr txBox="1"/>
          <p:nvPr/>
        </p:nvSpPr>
        <p:spPr>
          <a:xfrm>
            <a:off x="8211312" y="349300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TypeScript, Tailwind CSS</a:t>
            </a:r>
            <a:endParaRPr lang="en-US" sz="1250" dirty="0"/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0B0381CB-DA9E-011C-6FEC-8FD4AFF5CCB6}"/>
              </a:ext>
            </a:extLst>
          </p:cNvPr>
          <p:cNvSpPr txBox="1"/>
          <p:nvPr/>
        </p:nvSpPr>
        <p:spPr>
          <a:xfrm>
            <a:off x="8211312" y="427939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(speak-to-search)</a:t>
            </a:r>
            <a:endParaRPr lang="en-US" sz="1250" dirty="0"/>
          </a:p>
        </p:txBody>
      </p:sp>
      <p:sp>
        <p:nvSpPr>
          <p:cNvPr id="61" name="Text 28">
            <a:extLst>
              <a:ext uri="{FF2B5EF4-FFF2-40B4-BE49-F238E27FC236}">
                <a16:creationId xmlns:a16="http://schemas.microsoft.com/office/drawing/2014/main" id="{308E78F9-48BD-249B-AB82-116438276EC9}"/>
              </a:ext>
            </a:extLst>
          </p:cNvPr>
          <p:cNvSpPr txBox="1"/>
          <p:nvPr/>
        </p:nvSpPr>
        <p:spPr>
          <a:xfrm>
            <a:off x="8211312" y="506577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PDF verification reports</a:t>
            </a:r>
            <a:endParaRPr lang="en-US" sz="125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986B715-0BD4-FFF7-2127-707A52F17E9B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65" name="Picture 64" descr="LTM Limited (Formerly LTIMindtree Limited)">
            <a:extLst>
              <a:ext uri="{FF2B5EF4-FFF2-40B4-BE49-F238E27FC236}">
                <a16:creationId xmlns:a16="http://schemas.microsoft.com/office/drawing/2014/main" id="{BDA4C51A-73A5-7BAE-0960-D31745357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0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E434D-6A29-D612-8922-A8C201B15F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Pipeline</a:t>
            </a:r>
            <a:r>
              <a:rPr lang="en-US" sz="3600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Structure</a:t>
            </a:r>
          </a:p>
          <a:p>
            <a:endParaRPr lang="en-IN" sz="36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EAF732D-0104-A1EC-6EC3-F62CF24CE660}"/>
              </a:ext>
            </a:extLst>
          </p:cNvPr>
          <p:cNvSpPr/>
          <p:nvPr/>
        </p:nvSpPr>
        <p:spPr>
          <a:xfrm>
            <a:off x="3566160" y="1417320"/>
            <a:ext cx="5120640" cy="548640"/>
          </a:xfrm>
          <a:prstGeom prst="roundRect">
            <a:avLst>
              <a:gd name="adj" fmla="val 11667"/>
            </a:avLst>
          </a:prstGeom>
          <a:solidFill>
            <a:srgbClr val="013B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F4741CE-3521-E034-AD20-D4C0997FB303}"/>
              </a:ext>
            </a:extLst>
          </p:cNvPr>
          <p:cNvSpPr txBox="1"/>
          <p:nvPr/>
        </p:nvSpPr>
        <p:spPr>
          <a:xfrm>
            <a:off x="3566160" y="1417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 ·  URL  ·  Image  ·  Audio</a:t>
            </a:r>
            <a:endParaRPr lang="en-US" sz="15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6BFF565-55A9-DCD7-1C79-74DEC9500310}"/>
              </a:ext>
            </a:extLst>
          </p:cNvPr>
          <p:cNvSpPr/>
          <p:nvPr/>
        </p:nvSpPr>
        <p:spPr>
          <a:xfrm>
            <a:off x="6126480" y="1965960"/>
            <a:ext cx="0" cy="246888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AB9607A6-7EA0-ECE1-43C3-F81D7A6AB3B3}"/>
              </a:ext>
            </a:extLst>
          </p:cNvPr>
          <p:cNvSpPr/>
          <p:nvPr/>
        </p:nvSpPr>
        <p:spPr>
          <a:xfrm>
            <a:off x="3566160" y="2212848"/>
            <a:ext cx="5120640" cy="548640"/>
          </a:xfrm>
          <a:prstGeom prst="roundRect">
            <a:avLst>
              <a:gd name="adj" fmla="val 11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F084F74A-A000-1C7B-D22F-D51B3F210CCB}"/>
              </a:ext>
            </a:extLst>
          </p:cNvPr>
          <p:cNvSpPr txBox="1"/>
          <p:nvPr/>
        </p:nvSpPr>
        <p:spPr>
          <a:xfrm>
            <a:off x="3566160" y="22128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IngestionAgent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 &amp; candidate claims</a:t>
            </a:r>
            <a:endParaRPr lang="en-US" sz="1500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C87DE743-ABBD-1D8B-DA0A-0A8C7E9A60C0}"/>
              </a:ext>
            </a:extLst>
          </p:cNvPr>
          <p:cNvSpPr/>
          <p:nvPr/>
        </p:nvSpPr>
        <p:spPr>
          <a:xfrm>
            <a:off x="6126480" y="2761488"/>
            <a:ext cx="0" cy="246888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99B15DB7-9364-7EAF-1788-F1D11D5F8244}"/>
              </a:ext>
            </a:extLst>
          </p:cNvPr>
          <p:cNvSpPr/>
          <p:nvPr/>
        </p:nvSpPr>
        <p:spPr>
          <a:xfrm>
            <a:off x="3566160" y="3008376"/>
            <a:ext cx="5120640" cy="749808"/>
          </a:xfrm>
          <a:prstGeom prst="roundRect">
            <a:avLst>
              <a:gd name="adj" fmla="val 853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B9625CEB-E067-2F69-13A7-E732C7EE26CD}"/>
              </a:ext>
            </a:extLst>
          </p:cNvPr>
          <p:cNvSpPr txBox="1"/>
          <p:nvPr/>
        </p:nvSpPr>
        <p:spPr>
          <a:xfrm>
            <a:off x="3566160" y="300837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SearchAgent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· NewsAPI · </a:t>
            </a:r>
            <a:r>
              <a:rPr lang="en-US" sz="10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GNews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Wikipedia (parallel)</a:t>
            </a:r>
            <a:endParaRPr lang="en-US" sz="15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E86E2FE7-3502-F9A6-D3EE-887D79F12142}"/>
              </a:ext>
            </a:extLst>
          </p:cNvPr>
          <p:cNvSpPr/>
          <p:nvPr/>
        </p:nvSpPr>
        <p:spPr>
          <a:xfrm>
            <a:off x="6126480" y="3758184"/>
            <a:ext cx="0" cy="246888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849C6139-D505-12BC-40A1-BF854442C1C7}"/>
              </a:ext>
            </a:extLst>
          </p:cNvPr>
          <p:cNvSpPr/>
          <p:nvPr/>
        </p:nvSpPr>
        <p:spPr>
          <a:xfrm>
            <a:off x="3566160" y="4005072"/>
            <a:ext cx="5120640" cy="548640"/>
          </a:xfrm>
          <a:prstGeom prst="roundRect">
            <a:avLst>
              <a:gd name="adj" fmla="val 11667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A221263-E7CB-3EAC-B29E-030EC40EBC50}"/>
              </a:ext>
            </a:extLst>
          </p:cNvPr>
          <p:cNvSpPr txBox="1"/>
          <p:nvPr/>
        </p:nvSpPr>
        <p:spPr>
          <a:xfrm>
            <a:off x="3566160" y="400507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TrustScoringAgent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rubric -&gt; Trust Score + Verdict</a:t>
            </a:r>
            <a:endParaRPr lang="en-US" sz="1500" dirty="0"/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501DBE59-4118-D1B4-1CE7-7C2C818AB66E}"/>
              </a:ext>
            </a:extLst>
          </p:cNvPr>
          <p:cNvSpPr/>
          <p:nvPr/>
        </p:nvSpPr>
        <p:spPr>
          <a:xfrm>
            <a:off x="6126480" y="4553712"/>
            <a:ext cx="0" cy="246888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B0A0E18D-D380-BCF2-80D2-AD55B42E4C7E}"/>
              </a:ext>
            </a:extLst>
          </p:cNvPr>
          <p:cNvSpPr/>
          <p:nvPr/>
        </p:nvSpPr>
        <p:spPr>
          <a:xfrm>
            <a:off x="3566160" y="4800600"/>
            <a:ext cx="5120640" cy="621792"/>
          </a:xfrm>
          <a:prstGeom prst="roundRect">
            <a:avLst>
              <a:gd name="adj" fmla="val 10294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CA52FF36-EE16-B7B2-D7F3-69425E5EB67D}"/>
              </a:ext>
            </a:extLst>
          </p:cNvPr>
          <p:cNvSpPr txBox="1"/>
          <p:nvPr/>
        </p:nvSpPr>
        <p:spPr>
          <a:xfrm>
            <a:off x="3566160" y="480060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ExplanationAgent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-&gt; summary + recommendations</a:t>
            </a:r>
            <a:endParaRPr lang="en-US" sz="1500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8F98E109-041D-B5C2-51C4-F16DFAE85B22}"/>
              </a:ext>
            </a:extLst>
          </p:cNvPr>
          <p:cNvSpPr/>
          <p:nvPr/>
        </p:nvSpPr>
        <p:spPr>
          <a:xfrm>
            <a:off x="6126480" y="5422392"/>
            <a:ext cx="0" cy="246888"/>
          </a:xfrm>
          <a:prstGeom prst="line">
            <a:avLst/>
          </a:prstGeom>
          <a:noFill/>
          <a:ln w="22225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5AF714BE-D311-8B1C-E19D-24F3D9D8D82B}"/>
              </a:ext>
            </a:extLst>
          </p:cNvPr>
          <p:cNvSpPr/>
          <p:nvPr/>
        </p:nvSpPr>
        <p:spPr>
          <a:xfrm>
            <a:off x="3566160" y="5669280"/>
            <a:ext cx="5120640" cy="621792"/>
          </a:xfrm>
          <a:prstGeom prst="roundRect">
            <a:avLst>
              <a:gd name="adj" fmla="val 10294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18">
            <a:extLst>
              <a:ext uri="{FF2B5EF4-FFF2-40B4-BE49-F238E27FC236}">
                <a16:creationId xmlns:a16="http://schemas.microsoft.com/office/drawing/2014/main" id="{C9803F9C-B584-A694-E4F2-20EEB92259C8}"/>
              </a:ext>
            </a:extLst>
          </p:cNvPr>
          <p:cNvSpPr txBox="1"/>
          <p:nvPr/>
        </p:nvSpPr>
        <p:spPr>
          <a:xfrm>
            <a:off x="3566160" y="5669280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SQLite - rendered as score, factors &amp; sources</a:t>
            </a:r>
            <a:endParaRPr lang="en-US" sz="150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15F5AD9F-C751-FB2E-107B-91ED42B81C51}"/>
              </a:ext>
            </a:extLst>
          </p:cNvPr>
          <p:cNvSpPr/>
          <p:nvPr/>
        </p:nvSpPr>
        <p:spPr>
          <a:xfrm>
            <a:off x="9052560" y="2212848"/>
            <a:ext cx="26060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4D6F9BC3-013D-7AD7-2CC4-A92B10DE656C}"/>
              </a:ext>
            </a:extLst>
          </p:cNvPr>
          <p:cNvSpPr txBox="1"/>
          <p:nvPr/>
        </p:nvSpPr>
        <p:spPr>
          <a:xfrm>
            <a:off x="9052560" y="2212848"/>
            <a:ext cx="260604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13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Analysis Agent
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for audio input</a:t>
            </a:r>
            <a:endParaRPr lang="en-US" sz="1150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DF1A3C89-0796-1E90-B1E8-AD69B5B32329}"/>
              </a:ext>
            </a:extLst>
          </p:cNvPr>
          <p:cNvSpPr/>
          <p:nvPr/>
        </p:nvSpPr>
        <p:spPr>
          <a:xfrm>
            <a:off x="8686800" y="2587752"/>
            <a:ext cx="36576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3B4F20C-829A-EC5E-B6AF-6B9AEE94802A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47" name="Picture 46" descr="LTM Limited (Formerly LTIMindtree Limited)">
            <a:extLst>
              <a:ext uri="{FF2B5EF4-FFF2-40B4-BE49-F238E27FC236}">
                <a16:creationId xmlns:a16="http://schemas.microsoft.com/office/drawing/2014/main" id="{C84C5A31-E3C9-E044-A88A-D017D8F9C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7877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a typeface="Cambria" pitchFamily="34" charset="-122"/>
                <a:cs typeface="Cambria" pitchFamily="34" charset="-120"/>
              </a:rPr>
              <a:t>Project 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cs typeface="Calibri" panose="020F0502020204030204" pitchFamily="34" charset="0"/>
              </a:rPr>
              <a:t>Plan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a typeface="Cambria" pitchFamily="34" charset="-122"/>
                <a:cs typeface="Cambria" pitchFamily="34" charset="-120"/>
              </a:rPr>
              <a:t>: Milestones &amp; Progress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  <a:p>
            <a:pPr lvl="0">
              <a:defRPr/>
            </a:pP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5B63B2D-7B75-C470-2E06-DBCE9914101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E4316486-4CBB-6223-6F62-CBC22688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A15B60-EA46-31AA-1A2B-AC2DE0755ED8}"/>
              </a:ext>
            </a:extLst>
          </p:cNvPr>
          <p:cNvSpPr txBox="1"/>
          <p:nvPr/>
        </p:nvSpPr>
        <p:spPr>
          <a:xfrm>
            <a:off x="4081808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   Agentic AI Multi-Agent Architecture for Automated Fake News Verification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A0063B92-DF08-1198-BDE0-CD950B48933D}"/>
              </a:ext>
            </a:extLst>
          </p:cNvPr>
          <p:cNvSpPr/>
          <p:nvPr/>
        </p:nvSpPr>
        <p:spPr>
          <a:xfrm>
            <a:off x="1005840" y="1417320"/>
            <a:ext cx="0" cy="4983480"/>
          </a:xfrm>
          <a:prstGeom prst="line">
            <a:avLst/>
          </a:prstGeom>
          <a:noFill/>
          <a:ln w="25400">
            <a:solidFill>
              <a:srgbClr val="DCEA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6F4D502E-AD7C-7095-98AD-607BB1208E1B}"/>
              </a:ext>
            </a:extLst>
          </p:cNvPr>
          <p:cNvSpPr/>
          <p:nvPr/>
        </p:nvSpPr>
        <p:spPr>
          <a:xfrm>
            <a:off x="886968" y="1796796"/>
            <a:ext cx="237744" cy="23774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54DCAA9A-6FFF-6E3D-A6E4-D795E30B94B0}"/>
              </a:ext>
            </a:extLst>
          </p:cNvPr>
          <p:cNvSpPr txBox="1"/>
          <p:nvPr/>
        </p:nvSpPr>
        <p:spPr>
          <a:xfrm>
            <a:off x="886968" y="17785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2927E63C-CC46-FBC8-79AE-BF477428B6E3}"/>
              </a:ext>
            </a:extLst>
          </p:cNvPr>
          <p:cNvSpPr txBox="1"/>
          <p:nvPr/>
        </p:nvSpPr>
        <p:spPr>
          <a:xfrm>
            <a:off x="1417320" y="149047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1 - Core Verification Pipeline   </a:t>
            </a:r>
            <a:r>
              <a:rPr lang="en-US" sz="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B1C1B91F-4B1A-D92F-1745-185EB7CF5034}"/>
              </a:ext>
            </a:extLst>
          </p:cNvPr>
          <p:cNvSpPr txBox="1"/>
          <p:nvPr/>
        </p:nvSpPr>
        <p:spPr>
          <a:xfrm>
            <a:off x="1417320" y="1801368"/>
            <a:ext cx="10241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Search, Trust Scoring &amp; Explanation agents; end-to-end text/URL verification with a transparent factor breakdown.</a:t>
            </a:r>
            <a:endParaRPr lang="en-US" sz="115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09AD5790-C72C-DF8A-A66B-C6828BDE8AD4}"/>
              </a:ext>
            </a:extLst>
          </p:cNvPr>
          <p:cNvSpPr/>
          <p:nvPr/>
        </p:nvSpPr>
        <p:spPr>
          <a:xfrm>
            <a:off x="886968" y="2793492"/>
            <a:ext cx="237744" cy="23774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FC41722C-BDDF-494A-DB6C-26EC0F5A9EA5}"/>
              </a:ext>
            </a:extLst>
          </p:cNvPr>
          <p:cNvSpPr txBox="1"/>
          <p:nvPr/>
        </p:nvSpPr>
        <p:spPr>
          <a:xfrm>
            <a:off x="886968" y="27752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5D829E72-A800-3E7F-FB83-41FAD314099A}"/>
              </a:ext>
            </a:extLst>
          </p:cNvPr>
          <p:cNvSpPr txBox="1"/>
          <p:nvPr/>
        </p:nvSpPr>
        <p:spPr>
          <a:xfrm>
            <a:off x="1417320" y="24871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2 - Multi-Modal &amp; Accounts   </a:t>
            </a:r>
            <a:r>
              <a:rPr lang="en-US" sz="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D2A35546-B4F1-DF91-6F02-AEE56894D851}"/>
              </a:ext>
            </a:extLst>
          </p:cNvPr>
          <p:cNvSpPr txBox="1"/>
          <p:nvPr/>
        </p:nvSpPr>
        <p:spPr>
          <a:xfrm>
            <a:off x="1417320" y="2798064"/>
            <a:ext cx="10241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audio verification, JWT auth with guest mode, history dashboard, PDF report export.</a:t>
            </a:r>
            <a:endParaRPr lang="en-US" sz="115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F901C6BB-03BA-1BDF-D281-4F065E76EBB2}"/>
              </a:ext>
            </a:extLst>
          </p:cNvPr>
          <p:cNvSpPr/>
          <p:nvPr/>
        </p:nvSpPr>
        <p:spPr>
          <a:xfrm>
            <a:off x="886968" y="3790188"/>
            <a:ext cx="237744" cy="23774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495FE61E-B752-8389-8CF4-5650524F26D0}"/>
              </a:ext>
            </a:extLst>
          </p:cNvPr>
          <p:cNvSpPr txBox="1"/>
          <p:nvPr/>
        </p:nvSpPr>
        <p:spPr>
          <a:xfrm>
            <a:off x="886968" y="37719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3AE3AA58-908F-FD32-7E6F-64733050E634}"/>
              </a:ext>
            </a:extLst>
          </p:cNvPr>
          <p:cNvSpPr txBox="1"/>
          <p:nvPr/>
        </p:nvSpPr>
        <p:spPr>
          <a:xfrm>
            <a:off x="1417320" y="3483864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3 - Data Completeness Fixes   </a:t>
            </a:r>
            <a:r>
              <a:rPr lang="en-US" sz="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B86CBAE3-BC44-F9AA-BEA6-ACDCA47B09C1}"/>
              </a:ext>
            </a:extLst>
          </p:cNvPr>
          <p:cNvSpPr txBox="1"/>
          <p:nvPr/>
        </p:nvSpPr>
        <p:spPr>
          <a:xfrm>
            <a:off x="1417320" y="3794760"/>
            <a:ext cx="10241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Media-analysis findings &amp; AI summary reliably surfaced in the UI; voice ("speak-to-search") input.</a:t>
            </a:r>
            <a:endParaRPr lang="en-US" sz="115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FCB94FB5-D98B-E875-33B1-8EF320BA4FB4}"/>
              </a:ext>
            </a:extLst>
          </p:cNvPr>
          <p:cNvSpPr/>
          <p:nvPr/>
        </p:nvSpPr>
        <p:spPr>
          <a:xfrm>
            <a:off x="886968" y="4786884"/>
            <a:ext cx="237744" cy="23774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3A49C1AA-BFFC-967F-9BEC-9EF80BACDB7F}"/>
              </a:ext>
            </a:extLst>
          </p:cNvPr>
          <p:cNvSpPr txBox="1"/>
          <p:nvPr/>
        </p:nvSpPr>
        <p:spPr>
          <a:xfrm>
            <a:off x="886968" y="47685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173F579D-E963-8196-BAFD-302105217168}"/>
              </a:ext>
            </a:extLst>
          </p:cNvPr>
          <p:cNvSpPr txBox="1"/>
          <p:nvPr/>
        </p:nvSpPr>
        <p:spPr>
          <a:xfrm>
            <a:off x="1417320" y="4480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4 - Evidence Quality Upgrade   </a:t>
            </a:r>
            <a:r>
              <a:rPr lang="en-US" sz="9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</a:t>
            </a:r>
            <a:endParaRPr lang="en-US" sz="14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60D0FF0B-4F36-03DA-1B38-9324CB737E92}"/>
              </a:ext>
            </a:extLst>
          </p:cNvPr>
          <p:cNvSpPr txBox="1"/>
          <p:nvPr/>
        </p:nvSpPr>
        <p:spPr>
          <a:xfrm>
            <a:off x="1417320" y="4791456"/>
            <a:ext cx="10241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independent news source (GNews), 20-outlet trusted-publisher prioritization, "Detected Source" attribution UI, automatic DB migrations.</a:t>
            </a:r>
            <a:endParaRPr lang="en-US" sz="1150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A8D76CD1-EA5A-14DE-B6B3-44F20DEA692A}"/>
              </a:ext>
            </a:extLst>
          </p:cNvPr>
          <p:cNvSpPr/>
          <p:nvPr/>
        </p:nvSpPr>
        <p:spPr>
          <a:xfrm>
            <a:off x="886968" y="5783580"/>
            <a:ext cx="237744" cy="2377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B7B7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5E7AAB1F-72D0-B952-D4F6-B0238FB1B4B8}"/>
              </a:ext>
            </a:extLst>
          </p:cNvPr>
          <p:cNvSpPr txBox="1"/>
          <p:nvPr/>
        </p:nvSpPr>
        <p:spPr>
          <a:xfrm>
            <a:off x="1417320" y="5477256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3B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5 - Planned Next   </a:t>
            </a:r>
            <a:r>
              <a:rPr lang="en-US" sz="900" b="1" dirty="0">
                <a:solidFill>
                  <a:srgbClr val="6B7B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</a:t>
            </a:r>
            <a:endParaRPr lang="en-US" sz="14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35D0CC2-A617-342D-25F2-ADD76E97BB01}"/>
              </a:ext>
            </a:extLst>
          </p:cNvPr>
          <p:cNvSpPr txBox="1"/>
          <p:nvPr/>
        </p:nvSpPr>
        <p:spPr>
          <a:xfrm>
            <a:off x="1417320" y="5788152"/>
            <a:ext cx="102412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fact-check/language coverage, production deployment, and structured user testing.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ABC790-CE09-064B-ECC5-8D99380CC0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653" y="716048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GB" sz="3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Result: Under Testing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9EA97-4605-FEBC-A38D-352AABE2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394761"/>
            <a:ext cx="8051383" cy="45270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5F908C-CCB6-3301-79B2-5FD45D57476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E6F7F78B-82A0-7FF7-00FE-C02FFA6DF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8166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3357</TotalTime>
  <Words>846</Words>
  <Application>Microsoft Office PowerPoint</Application>
  <PresentationFormat>Widescreen</PresentationFormat>
  <Paragraphs>134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Calibri (Body)</vt:lpstr>
      <vt:lpstr>Calibri Light</vt:lpstr>
      <vt:lpstr>Cambria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Vinoth KannaS</cp:lastModifiedBy>
  <cp:revision>18</cp:revision>
  <dcterms:created xsi:type="dcterms:W3CDTF">2024-05-13T10:33:11Z</dcterms:created>
  <dcterms:modified xsi:type="dcterms:W3CDTF">2026-09-29T05:08:51Z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
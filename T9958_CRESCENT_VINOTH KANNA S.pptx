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31.png"/><Relationship Id="rId5" Type="http://schemas.openxmlformats.org/officeDocument/2006/relationships/image" Target="../media/image7.png"/><Relationship Id="rId10" Type="http://schemas.openxmlformats.org/officeDocument/2006/relationships/image" Target="../media/image30.png"/><Relationship Id="rId4" Type="http://schemas.openxmlformats.org/officeDocument/2006/relationships/image" Target="../media/image6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6.png"/><Relationship Id="rId10" Type="http://schemas.openxmlformats.org/officeDocument/2006/relationships/image" Target="../media/image26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" y="2177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682603"/>
            <a:ext cx="1123950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917948"/>
            <a:ext cx="2743200" cy="23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2289423"/>
            <a:ext cx="11715750" cy="503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1E3A8A"/>
                </a:solidFill>
                <a:latin typeface="Poppins"/>
              </a:rPr>
              <a:t>Enterprise AI Project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2888456"/>
            <a:ext cx="11239500" cy="7439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  <a:defRPr sz="1250">
                <a:latin typeface="Aptos"/>
              </a:defRPr>
            </a:pPr>
            <a:r>
              <a:rPr sz="1350" b="0" i="0" u="none" dirty="0">
                <a:solidFill>
                  <a:schemeClr val="tx2"/>
                </a:solidFill>
              </a:rPr>
              <a:t>1</a:t>
            </a:r>
            <a:r>
              <a:rPr sz="1350" dirty="0">
                <a:solidFill>
                  <a:schemeClr val="tx2"/>
                </a:solidFill>
              </a:rPr>
              <a:t>. </a:t>
            </a:r>
            <a:r>
              <a:rPr lang="en-GB" sz="1350" dirty="0">
                <a:solidFill>
                  <a:schemeClr val="tx2"/>
                </a:solidFill>
              </a:rPr>
              <a:t>RAG For Secure Enterprise Document Intelligence Using Roll Based Access Control</a:t>
            </a:r>
          </a:p>
          <a:p>
            <a:pPr>
              <a:lnSpc>
                <a:spcPts val="1889"/>
              </a:lnSpc>
            </a:pPr>
            <a:r>
              <a:rPr sz="1350" b="0" i="0" u="none" dirty="0">
                <a:solidFill>
                  <a:schemeClr val="tx2"/>
                </a:solidFill>
              </a:rPr>
              <a:t>2. </a:t>
            </a:r>
            <a:r>
              <a:rPr lang="en-US" sz="1400" dirty="0">
                <a:solidFill>
                  <a:schemeClr val="tx2"/>
                </a:solidFill>
              </a:rPr>
              <a:t>Agentic AI Multi-Agent Architecture for Automated Fake News Verification &amp; Explainable Trust Assessment</a:t>
            </a:r>
          </a:p>
          <a:p>
            <a:pPr>
              <a:lnSpc>
                <a:spcPts val="1889"/>
              </a:lnSpc>
            </a:pPr>
            <a:endParaRPr sz="1350" b="0" i="0" u="none" dirty="0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0575" y="3901678"/>
            <a:ext cx="34226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3A8A"/>
                </a:solidFill>
                <a:latin typeface="Lato"/>
              </a:rPr>
              <a:t>Candidate Name</a:t>
            </a:r>
            <a:r>
              <a:rPr lang="en-US" sz="1125" b="1" i="0" u="none" dirty="0">
                <a:solidFill>
                  <a:srgbClr val="1E3A8A"/>
                </a:solidFill>
                <a:latin typeface="Lato"/>
              </a:rPr>
              <a:t>: </a:t>
            </a:r>
            <a:r>
              <a:rPr sz="1125" b="0" i="0" u="none" dirty="0">
                <a:solidFill>
                  <a:srgbClr val="1E293B"/>
                </a:solidFill>
                <a:latin typeface="Lato"/>
              </a:rPr>
              <a:t>VINOTH KANNA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3675" y="3901678"/>
            <a:ext cx="34226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3A8A"/>
                </a:solidFill>
                <a:latin typeface="Lato"/>
              </a:rPr>
              <a:t>Department</a:t>
            </a:r>
            <a:r>
              <a:rPr lang="en-US" sz="1125" b="1" i="0" u="none" dirty="0">
                <a:solidFill>
                  <a:srgbClr val="1E3A8A"/>
                </a:solidFill>
                <a:latin typeface="Lato"/>
              </a:rPr>
              <a:t>: </a:t>
            </a:r>
            <a:r>
              <a:rPr sz="1125" b="0" i="0" u="none" dirty="0">
                <a:solidFill>
                  <a:srgbClr val="1E293B"/>
                </a:solidFill>
                <a:latin typeface="Lato"/>
              </a:rPr>
              <a:t>M.TECH AI &amp; 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6775" y="3901678"/>
            <a:ext cx="3422749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3A8A"/>
                </a:solidFill>
                <a:latin typeface="Lato"/>
              </a:rPr>
              <a:t>RRN</a:t>
            </a:r>
            <a:r>
              <a:rPr lang="en-US" sz="1125" b="1" i="0" u="none" dirty="0">
                <a:solidFill>
                  <a:srgbClr val="1E3A8A"/>
                </a:solidFill>
                <a:latin typeface="Lato"/>
              </a:rPr>
              <a:t>: </a:t>
            </a:r>
            <a:r>
              <a:rPr sz="1125" b="0" i="0" u="none" dirty="0">
                <a:solidFill>
                  <a:srgbClr val="1E293B"/>
                </a:solidFill>
                <a:latin typeface="Lato"/>
              </a:rPr>
              <a:t>251612601023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4387453"/>
            <a:ext cx="34226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E3A8A"/>
                </a:solidFill>
                <a:latin typeface="Lato"/>
              </a:rPr>
              <a:t>University</a:t>
            </a:r>
            <a:r>
              <a:rPr lang="en-US" sz="1125" b="1" i="0" u="none" dirty="0">
                <a:solidFill>
                  <a:srgbClr val="1E3A8A"/>
                </a:solidFill>
                <a:latin typeface="Lato"/>
              </a:rPr>
              <a:t>: </a:t>
            </a:r>
            <a:r>
              <a:rPr sz="1125" b="0" i="0" u="none" dirty="0">
                <a:solidFill>
                  <a:srgbClr val="1E293B"/>
                </a:solidFill>
                <a:latin typeface="Lato"/>
              </a:rPr>
              <a:t>CRESCENT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3675" y="4387453"/>
            <a:ext cx="34226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25" b="1" i="0" u="none" dirty="0">
                <a:solidFill>
                  <a:srgbClr val="1E3A8A"/>
                </a:solidFill>
                <a:latin typeface="Lato"/>
              </a:rPr>
              <a:t>LTM </a:t>
            </a:r>
            <a:r>
              <a:rPr sz="1125" b="1" i="0" u="none" dirty="0">
                <a:solidFill>
                  <a:srgbClr val="1E3A8A"/>
                </a:solidFill>
                <a:latin typeface="Lato"/>
              </a:rPr>
              <a:t>ID Number</a:t>
            </a:r>
            <a:r>
              <a:rPr lang="en-US" sz="1125" b="1" i="0" u="none" dirty="0">
                <a:solidFill>
                  <a:srgbClr val="1E3A8A"/>
                </a:solidFill>
                <a:latin typeface="Lato"/>
              </a:rPr>
              <a:t>: </a:t>
            </a:r>
            <a:r>
              <a:rPr sz="1125" b="0" i="0" u="none" dirty="0">
                <a:solidFill>
                  <a:srgbClr val="1E293B"/>
                </a:solidFill>
                <a:latin typeface="Lato"/>
              </a:rPr>
              <a:t>T9958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FEC6B1-7E8E-8216-EAD9-E8E973F2F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433" y="137925"/>
            <a:ext cx="2457450" cy="6711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60414"/>
            <a:ext cx="5476875" cy="28610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60414"/>
            <a:ext cx="5476875" cy="2861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2598539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D4ED8"/>
                </a:solidFill>
                <a:latin typeface="Poppins SemiBold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375" y="2950964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53225" y="2598539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D4ED8"/>
                </a:solidFill>
                <a:latin typeface="Poppins SemiBold"/>
              </a:rPr>
              <a:t>Core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0" y="2950964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46164"/>
            <a:ext cx="1809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646164"/>
            <a:ext cx="18097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" y="3055739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Data Governance &amp; Access: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Enterprise documents are scattered across repositories without unified privacy mechanisms.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537644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Lack of RBAC in LLMs: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Standard RAG exposes sensitive information to unauthorized access levels.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019550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Retrieval Quality Bottlenecks: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Basic vector similarity retrieves low-quality or out-of-context documents.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501455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Enterprise Risk: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Leakage of confidential financial, HR, or healthcare records during response generation.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055739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Role-Based Access Control (RBAC):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Enforce user permission validation prior to context retrieval.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537644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Hybrid Search Engine: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Combine BM25 keyword matching with dense vector embeddings for high retrieval precision.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4019550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Cross-Encoder Reranking: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Rescore retrieved chunks using MiniLM models to ensure context relevance.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501455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Zero Unauthorized Exposure: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Guarantee complete privacy protection across enterprise knowledge bases.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074789"/>
            <a:ext cx="1714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556694"/>
            <a:ext cx="1905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038600"/>
            <a:ext cx="1524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4520505"/>
            <a:ext cx="1714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074789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556694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4038600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520505"/>
            <a:ext cx="1524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38125" y="385168"/>
            <a:ext cx="11715750" cy="108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RAG For Secure Enterprise Document Intelligence 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Using Roll Based Access Control</a:t>
            </a:r>
          </a:p>
          <a:p>
            <a:pPr algn="ctr"/>
            <a:endParaRPr sz="2250" b="1" i="0" u="none" dirty="0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38356" y="123458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9838E6-E630-F10D-6670-EE9B8B016C60}"/>
              </a:ext>
            </a:extLst>
          </p:cNvPr>
          <p:cNvSpPr txBox="1"/>
          <p:nvPr/>
        </p:nvSpPr>
        <p:spPr>
          <a:xfrm>
            <a:off x="373833" y="431066"/>
            <a:ext cx="6169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dirty="0">
                <a:solidFill>
                  <a:srgbClr val="1E3A8A"/>
                </a:solidFill>
                <a:latin typeface="Poppins"/>
              </a:rPr>
              <a:t>Project 1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562100"/>
            <a:ext cx="5476875" cy="445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62100"/>
            <a:ext cx="5476875" cy="445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5210175"/>
            <a:ext cx="5000625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333625"/>
            <a:ext cx="2452687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2333625"/>
            <a:ext cx="2452687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905125"/>
            <a:ext cx="2452687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2905125"/>
            <a:ext cx="2452687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476625"/>
            <a:ext cx="2452687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3476625"/>
            <a:ext cx="2452687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048125"/>
            <a:ext cx="2452687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4048125"/>
            <a:ext cx="2452687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619625"/>
            <a:ext cx="2452687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4619625"/>
            <a:ext cx="2452687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0600" y="1833454"/>
            <a:ext cx="4960620" cy="2192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 dirty="0">
                <a:solidFill>
                  <a:srgbClr val="1D4ED8"/>
                </a:solidFill>
                <a:latin typeface="Poppins SemiBold"/>
              </a:rPr>
              <a:t>Technical</a:t>
            </a:r>
            <a:r>
              <a:rPr lang="en-GB" sz="1425" b="0" i="0" u="none" dirty="0">
                <a:solidFill>
                  <a:srgbClr val="1D4ED8"/>
                </a:solidFill>
                <a:latin typeface="Poppins SemiBold"/>
              </a:rPr>
              <a:t> Stack</a:t>
            </a:r>
            <a:endParaRPr sz="1425" b="0" i="0" u="none" dirty="0">
              <a:solidFill>
                <a:srgbClr val="1D4ED8"/>
              </a:solidFill>
              <a:latin typeface="Poppins SemiBol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4375" y="2152650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5600" y="1800225"/>
            <a:ext cx="501062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D4ED8"/>
                </a:solidFill>
                <a:latin typeface="Poppins SemiBold"/>
              </a:rPr>
              <a:t>Expected Outcomes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2152650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1847850"/>
            <a:ext cx="180975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7250" y="5343525"/>
            <a:ext cx="914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Lato"/>
              </a:rPr>
              <a:t>Target Datasets: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847850"/>
            <a:ext cx="133350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8200" y="24193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5717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Streamlit /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6137" y="24193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6137" y="2571750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FastAPI (Python)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9908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DOC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143250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LangChain, PyMuPDF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6137" y="29908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6137" y="3143250"/>
            <a:ext cx="590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BGE-Large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5623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VECTOR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714750"/>
            <a:ext cx="102870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334155"/>
                </a:solidFill>
                <a:latin typeface="Lato SemiBold"/>
              </a:rPr>
              <a:t>ChromaDB</a:t>
            </a:r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 /FAISS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6137" y="35623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SEARCH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6137" y="3714750"/>
            <a:ext cx="1314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Hybrid (BM25 + Dense)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41338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SECURITY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286250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RBAC, JWT Auth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6137" y="41338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RERANKING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6137" y="4286250"/>
            <a:ext cx="1343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Cross-Encoder (MiniLM)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" y="47053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LLM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857750"/>
            <a:ext cx="962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Llama 3 / Mistral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6137" y="470535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6137" y="4857750"/>
            <a:ext cx="981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Docker Container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1800" y="3372147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 dirty="0">
                <a:solidFill>
                  <a:srgbClr val="1E293B"/>
                </a:solidFill>
                <a:latin typeface="Lato"/>
              </a:rPr>
              <a:t>Permission-Aware QA: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Fully secure document querying based on verified user credentials.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1800" y="3854053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 dirty="0">
                <a:solidFill>
                  <a:srgbClr val="1E293B"/>
                </a:solidFill>
                <a:latin typeface="Lato"/>
              </a:rPr>
              <a:t>Enhanced Accuracy:</a:t>
            </a:r>
            <a:r>
              <a:rPr sz="1050" b="0" i="0" u="none" dirty="0">
                <a:solidFill>
                  <a:srgbClr val="334155"/>
                </a:solidFill>
                <a:latin typeface="Lato"/>
              </a:rPr>
              <a:t> Higher retrieval precision and answer relevance via hybrid reranking.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81800" y="4335958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Privacy Compliance: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Mitigated confidential data leaks across finance, healthcare, and corporate sectors.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1800" y="4817864"/>
            <a:ext cx="4695825" cy="1729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391197"/>
            <a:ext cx="152400" cy="152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873103"/>
            <a:ext cx="152400" cy="1524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355008"/>
            <a:ext cx="152400" cy="1524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76250" y="381000"/>
            <a:ext cx="11715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E3A8A"/>
                </a:solidFill>
                <a:latin typeface="Poppins"/>
              </a:rPr>
              <a:t>Project 1: Technical Stack &amp; Expected Deliverables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6250" y="8953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60414"/>
            <a:ext cx="5476875" cy="28610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60414"/>
            <a:ext cx="5476875" cy="2861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2598539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D4ED8"/>
                </a:solidFill>
                <a:latin typeface="Poppins SemiBold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375" y="2950964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53225" y="2598539"/>
            <a:ext cx="496062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D4ED8"/>
                </a:solidFill>
                <a:latin typeface="Poppins SemiBold"/>
              </a:rPr>
              <a:t>Core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7000" y="2950964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46164"/>
            <a:ext cx="1809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646164"/>
            <a:ext cx="18097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" y="3055739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Misinformation Proliferation: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Rapid spread of fake news on digital media makes manual verification unscalable.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537644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Black-Box Classifiers: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Existing automated tools produce binary outputs without evidence or reasoning.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4019550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Source Disconnect: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Lack of automated cross-referencing with official fact-checking repositories.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4501455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Erosion of Trust: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Widespread public confusion and declining credibility in online news media.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055739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Multi-Agent Architecture: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Build collaborative autonomous agents for verification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537644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Evidence Retrieval: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Fetch corroborating factual data from trusted sources in real-time.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4019550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Credibility Validation: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Evaluate publisher reputation and structural content authenticity.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4501455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Explainable AI (XAI):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Produce transparent trust scores with SHAP-based feature importance.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074789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556694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038600"/>
            <a:ext cx="1905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4520505"/>
            <a:ext cx="1905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556694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4038600"/>
            <a:ext cx="1714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4520505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6250" y="381000"/>
            <a:ext cx="11715750" cy="1084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Agentic AI Multi-Agent Architecture for Automated Fake News Verification 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&amp; Explainable Trust Assessment</a:t>
            </a:r>
          </a:p>
          <a:p>
            <a:pPr algn="ctr"/>
            <a:endParaRPr sz="2250" b="1" i="0" u="none" dirty="0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6250" y="1282205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85C132-2F0C-90D3-706D-FB023F87A5EE}"/>
              </a:ext>
            </a:extLst>
          </p:cNvPr>
          <p:cNvSpPr txBox="1"/>
          <p:nvPr/>
        </p:nvSpPr>
        <p:spPr>
          <a:xfrm>
            <a:off x="282166" y="422315"/>
            <a:ext cx="6169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i="0" u="none" dirty="0">
                <a:solidFill>
                  <a:srgbClr val="1E3A8A"/>
                </a:solidFill>
                <a:latin typeface="Poppins"/>
              </a:rPr>
              <a:t>Project 2: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47850"/>
            <a:ext cx="5476875" cy="3886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873818"/>
            <a:ext cx="5476875" cy="388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924425"/>
            <a:ext cx="5000625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619375"/>
            <a:ext cx="2452687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2619375"/>
            <a:ext cx="2452687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190875"/>
            <a:ext cx="2452687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3190875"/>
            <a:ext cx="2452687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762375"/>
            <a:ext cx="2452687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3762375"/>
            <a:ext cx="2452687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333875"/>
            <a:ext cx="2452687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312" y="4333875"/>
            <a:ext cx="2452687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9650" y="2085975"/>
            <a:ext cx="494061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0" i="0" u="none">
                <a:solidFill>
                  <a:srgbClr val="1D4ED8"/>
                </a:solidFill>
                <a:latin typeface="Poppins SemiBold"/>
              </a:rPr>
              <a:t>Technical Stack &amp;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375" y="2438400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05600" y="2119204"/>
            <a:ext cx="5010626" cy="2192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25" b="0" i="0" u="none" dirty="0">
                <a:solidFill>
                  <a:srgbClr val="1D4ED8"/>
                </a:solidFill>
                <a:latin typeface="Poppins SemiBold"/>
              </a:rPr>
              <a:t>Expected </a:t>
            </a:r>
            <a:r>
              <a:rPr sz="1425" b="0" i="0" u="none" dirty="0">
                <a:solidFill>
                  <a:srgbClr val="1D4ED8"/>
                </a:solidFill>
                <a:latin typeface="Poppins SemiBold"/>
              </a:rPr>
              <a:t>Outcomes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77000" y="2438400"/>
            <a:ext cx="50006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133600"/>
            <a:ext cx="200025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7250" y="5057775"/>
            <a:ext cx="933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Lato"/>
              </a:rPr>
              <a:t>Datasets &amp; APIs: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2133600"/>
            <a:ext cx="133350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8200" y="27051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CORE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57500"/>
            <a:ext cx="1562100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Python, Pandas,</a:t>
            </a:r>
            <a:r>
              <a:rPr lang="en-US" sz="975" b="0" i="0" u="none" dirty="0">
                <a:solidFill>
                  <a:srgbClr val="334155"/>
                </a:solidFill>
                <a:latin typeface="Lato SemiBold"/>
              </a:rPr>
              <a:t> </a:t>
            </a:r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6137" y="27051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ML / NLP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6137" y="2857500"/>
            <a:ext cx="139223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334155"/>
                </a:solidFill>
                <a:latin typeface="Lato SemiBold"/>
              </a:rPr>
              <a:t>PyTorch</a:t>
            </a:r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,</a:t>
            </a:r>
            <a:r>
              <a:rPr lang="en-GB" sz="975" b="0" i="0" u="none" dirty="0">
                <a:solidFill>
                  <a:srgbClr val="334155"/>
                </a:solidFill>
                <a:latin typeface="Lato SemiBold"/>
              </a:rPr>
              <a:t> </a:t>
            </a:r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Transformers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32766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AGENT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429000"/>
            <a:ext cx="1123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334155"/>
                </a:solidFill>
                <a:latin typeface="Lato SemiBold"/>
              </a:rPr>
              <a:t>CrewAI</a:t>
            </a:r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 /LangGraph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6137" y="32766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KNOWLEDGE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6137" y="3429000"/>
            <a:ext cx="904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RAG + FAISSDB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8481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LLM BACKBONES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4000500"/>
            <a:ext cx="1228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Llama 3 / GPT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6137" y="38481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EXPLAINABILITY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6137" y="4000500"/>
            <a:ext cx="1286828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SHAP</a:t>
            </a:r>
            <a:r>
              <a:rPr lang="en-US" sz="975" b="0" i="0" u="none" dirty="0">
                <a:solidFill>
                  <a:srgbClr val="334155"/>
                </a:solidFill>
                <a:latin typeface="Lato SemiBold"/>
              </a:rPr>
              <a:t> </a:t>
            </a:r>
            <a:r>
              <a:rPr sz="975" b="0" i="0" u="none" dirty="0">
                <a:solidFill>
                  <a:srgbClr val="334155"/>
                </a:solidFill>
                <a:latin typeface="Lato SemiBold"/>
              </a:rPr>
              <a:t>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200" y="44196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572000"/>
            <a:ext cx="1095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Streamlit + FastAPI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6137" y="4419600"/>
            <a:ext cx="220503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3A8A"/>
                </a:solidFill>
                <a:latin typeface="Lato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6137" y="4572000"/>
            <a:ext cx="981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Lato SemiBold"/>
              </a:rPr>
              <a:t>Docker Container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1800" y="3666380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Automated Verification: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End-to-end multi-agent pipeline for rapid news credibility scoring.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1800" y="4148286"/>
            <a:ext cx="46958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Explainable Reports: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Transparent trust breakdown with evidence paths and reasoning.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1800" y="4630191"/>
            <a:ext cx="46958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1E293B"/>
                </a:solidFill>
                <a:latin typeface="Lato"/>
              </a:rPr>
              <a:t>Interactive Dashboard:</a:t>
            </a:r>
            <a:r>
              <a:rPr sz="1050" b="0" i="0" u="none">
                <a:solidFill>
                  <a:srgbClr val="334155"/>
                </a:solidFill>
                <a:latin typeface="Lato"/>
              </a:rPr>
              <a:t> Real-time GUI for trust assessment visualization.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685430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167336"/>
            <a:ext cx="152400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649241"/>
            <a:ext cx="152400" cy="152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76250" y="381000"/>
            <a:ext cx="1171575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 dirty="0">
                <a:solidFill>
                  <a:srgbClr val="1E3A8A"/>
                </a:solidFill>
                <a:latin typeface="Poppins"/>
              </a:rPr>
              <a:t>Project 2: Technical Stack &amp; </a:t>
            </a:r>
            <a:r>
              <a:rPr lang="en-GB" sz="2250" b="1">
                <a:solidFill>
                  <a:srgbClr val="1E3A8A"/>
                </a:solidFill>
                <a:latin typeface="Poppins"/>
              </a:rPr>
              <a:t>Expected Outcomes</a:t>
            </a:r>
            <a:endParaRPr sz="2250" b="1" i="0" u="none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76250" y="895350"/>
            <a:ext cx="11239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520</Words>
  <Application>Microsoft Office PowerPoint</Application>
  <PresentationFormat>Widescreen</PresentationFormat>
  <Paragraphs>85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Vinoth KannaS</cp:lastModifiedBy>
  <cp:revision>6</cp:revision>
  <dcterms:created xsi:type="dcterms:W3CDTF">2013-01-27T09:14:16Z</dcterms:created>
  <dcterms:modified xsi:type="dcterms:W3CDTF">2026-08-28T03:31:46Z</dcterms:modified>
  <cp:category/>
</cp:coreProperties>
</file>
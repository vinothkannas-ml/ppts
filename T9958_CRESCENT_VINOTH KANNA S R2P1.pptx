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0489" r:id="rId2"/>
    <p:sldId id="2147470492" r:id="rId3"/>
    <p:sldId id="2147470493" r:id="rId4"/>
    <p:sldId id="2147470491" r:id="rId5"/>
    <p:sldId id="2147470507" r:id="rId6"/>
    <p:sldId id="2147470508" r:id="rId7"/>
    <p:sldId id="2147470509" r:id="rId8"/>
    <p:sldId id="2147470510" r:id="rId9"/>
    <p:sldId id="2147470511" r:id="rId10"/>
    <p:sldId id="2147470512" r:id="rId11"/>
    <p:sldId id="2147470487" r:id="rId12"/>
    <p:sldId id="2147470498" r:id="rId13"/>
    <p:sldId id="2147470499" r:id="rId14"/>
    <p:sldId id="2147470500" r:id="rId15"/>
    <p:sldId id="2147470501" r:id="rId16"/>
    <p:sldId id="2147470503" r:id="rId17"/>
    <p:sldId id="2147470504" r:id="rId18"/>
    <p:sldId id="214747050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BBDA"/>
    <a:srgbClr val="25B9ED"/>
    <a:srgbClr val="FFFFFF"/>
    <a:srgbClr val="47BDAE"/>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334616" y="1631542"/>
            <a:ext cx="11428184" cy="59093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Project Title</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3600" b="1" dirty="0">
              <a:solidFill>
                <a:prstClr val="white"/>
              </a:solidFill>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srgbClr val="FFFFFF"/>
                </a:solidFill>
                <a:latin typeface="Calibri" pitchFamily="34" charset="0"/>
                <a:ea typeface="Calibri" pitchFamily="34" charset="-122"/>
                <a:cs typeface="Calibri" pitchFamily="34" charset="-120"/>
              </a:rPr>
              <a:t>RAG for Secure Enterprise</a:t>
            </a:r>
            <a:r>
              <a:rPr lang="en-US" sz="3600" dirty="0"/>
              <a:t> </a:t>
            </a:r>
            <a:r>
              <a:rPr lang="en-US" sz="3600" b="1" dirty="0">
                <a:solidFill>
                  <a:srgbClr val="FFFFFF"/>
                </a:solidFill>
                <a:latin typeface="Calibri" pitchFamily="34" charset="0"/>
                <a:ea typeface="Calibri" pitchFamily="34" charset="-122"/>
                <a:cs typeface="Calibri" pitchFamily="34" charset="-120"/>
              </a:rPr>
              <a:t>Document Intelligence Using Role-Based Access Control (RBAC)</a:t>
            </a: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Team Member</a:t>
            </a:r>
          </a:p>
          <a:p>
            <a:pPr algn="ctr">
              <a:defRPr/>
            </a:pPr>
            <a:r>
              <a:rPr lang="en-US" sz="2400" b="1" dirty="0">
                <a:solidFill>
                  <a:prstClr val="white"/>
                </a:solidFill>
                <a:cs typeface="Calibri" panose="020F0502020204030204" pitchFamily="34" charset="0"/>
              </a:rPr>
              <a:t>VINOTH KANNA S</a:t>
            </a:r>
          </a:p>
          <a:p>
            <a:pPr algn="ctr">
              <a:defRPr/>
            </a:pPr>
            <a:r>
              <a:rPr lang="en-US" sz="2400" b="1" dirty="0">
                <a:solidFill>
                  <a:prstClr val="white"/>
                </a:solidFill>
                <a:cs typeface="Calibri" panose="020F0502020204030204" pitchFamily="34" charset="0"/>
              </a:rPr>
              <a:t>CRESCENT 2025-27</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extLst>
              <p:ext uri="{D42A27DB-BD31-4B8C-83A1-F6EECF244321}">
                <p14:modId xmlns:p14="http://schemas.microsoft.com/office/powerpoint/2010/main" val="3527000795"/>
              </p:ext>
            </p:extLst>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7" name="Picture 6">
            <a:extLst>
              <a:ext uri="{FF2B5EF4-FFF2-40B4-BE49-F238E27FC236}">
                <a16:creationId xmlns:a16="http://schemas.microsoft.com/office/drawing/2014/main" id="{7DF0C71D-D9A7-2E72-176A-2DAF9A8E5B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4443" y="5108304"/>
            <a:ext cx="4201139" cy="2100570"/>
          </a:xfrm>
          <a:prstGeom prst="rect">
            <a:avLst/>
          </a:prstGeom>
        </p:spPr>
      </p:pic>
    </p:spTree>
    <p:extLst>
      <p:ext uri="{BB962C8B-B14F-4D97-AF65-F5344CB8AC3E}">
        <p14:creationId xmlns:p14="http://schemas.microsoft.com/office/powerpoint/2010/main" val="344950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5996" y="1357505"/>
            <a:ext cx="10624338" cy="4142989"/>
          </a:xfrm>
        </p:spPr>
        <p:txBody>
          <a:bodyPr/>
          <a:lstStyle/>
          <a:p>
            <a:pPr>
              <a:lnSpc>
                <a:spcPct val="150000"/>
              </a:lnSpc>
              <a:spcAft>
                <a:spcPts val="1600"/>
              </a:spcAft>
              <a:buSzPct val="100000"/>
            </a:pPr>
            <a:r>
              <a:rPr lang="en-US" sz="2400" b="0" dirty="0">
                <a:solidFill>
                  <a:srgbClr val="5583D1"/>
                </a:solidFill>
                <a:latin typeface="+mn-lt"/>
              </a:rPr>
              <a:t>Enterprise documents vary widely in sensitivity across departments.</a:t>
            </a:r>
          </a:p>
          <a:p>
            <a:pPr>
              <a:lnSpc>
                <a:spcPct val="150000"/>
              </a:lnSpc>
              <a:spcAft>
                <a:spcPts val="1600"/>
              </a:spcAft>
              <a:buSzPct val="100000"/>
            </a:pPr>
            <a:r>
              <a:rPr lang="en-US" sz="2400" b="0" dirty="0">
                <a:solidFill>
                  <a:srgbClr val="5583D1"/>
                </a:solidFill>
                <a:latin typeface="+mn-lt"/>
              </a:rPr>
              <a:t>RAG grounds LLM answers in real documents, reducing hallucination.</a:t>
            </a:r>
          </a:p>
          <a:p>
            <a:pPr>
              <a:lnSpc>
                <a:spcPct val="150000"/>
              </a:lnSpc>
              <a:spcAft>
                <a:spcPts val="1600"/>
              </a:spcAft>
              <a:buSzPct val="100000"/>
            </a:pPr>
            <a:r>
              <a:rPr lang="en-US" sz="2400" b="0" dirty="0">
                <a:solidFill>
                  <a:srgbClr val="5583D1"/>
                </a:solidFill>
                <a:latin typeface="+mn-lt"/>
              </a:rPr>
              <a:t>Most RAG systems ignore who is asking — a security gap.</a:t>
            </a:r>
          </a:p>
          <a:p>
            <a:pPr>
              <a:lnSpc>
                <a:spcPct val="150000"/>
              </a:lnSpc>
              <a:spcAft>
                <a:spcPts val="1600"/>
              </a:spcAft>
              <a:buSzPct val="100000"/>
            </a:pPr>
            <a:r>
              <a:rPr lang="en-US" sz="2400" b="0" dirty="0">
                <a:solidFill>
                  <a:srgbClr val="5583D1"/>
                </a:solidFill>
                <a:latin typeface="+mn-lt"/>
              </a:rPr>
              <a:t>This project enforces RBAC inside the retrieval pipeline itself.</a:t>
            </a:r>
          </a:p>
          <a:p>
            <a:pPr>
              <a:lnSpc>
                <a:spcPct val="150000"/>
              </a:lnSpc>
            </a:pPr>
            <a:endParaRPr lang="en-US" sz="2400" b="0" dirty="0">
              <a:solidFill>
                <a:srgbClr val="5583D1"/>
              </a:solidFill>
            </a:endParaRP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3912125" y="57036"/>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6" name="Rectangle 5">
            <a:extLst>
              <a:ext uri="{FF2B5EF4-FFF2-40B4-BE49-F238E27FC236}">
                <a16:creationId xmlns:a16="http://schemas.microsoft.com/office/drawing/2014/main" id="{E78BCCFA-EF04-B2CC-C841-FEA7F8E80249}"/>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7" name="Picture 6" descr="LTM Limited (Formerly LTIMindtree Limited)">
            <a:extLst>
              <a:ext uri="{FF2B5EF4-FFF2-40B4-BE49-F238E27FC236}">
                <a16:creationId xmlns:a16="http://schemas.microsoft.com/office/drawing/2014/main" id="{1E1CD245-7E67-BEF3-30D0-C204868571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255996" y="1271219"/>
            <a:ext cx="10624338" cy="4142989"/>
          </a:xfrm>
        </p:spPr>
        <p:txBody>
          <a:bodyPr/>
          <a:lstStyle/>
          <a:p>
            <a:pPr>
              <a:lnSpc>
                <a:spcPct val="150000"/>
              </a:lnSpc>
              <a:spcAft>
                <a:spcPts val="1600"/>
              </a:spcAft>
              <a:buSzPct val="100000"/>
            </a:pPr>
            <a:r>
              <a:rPr lang="en-US" sz="2400" b="0" dirty="0">
                <a:solidFill>
                  <a:srgbClr val="5583D1"/>
                </a:solidFill>
                <a:latin typeface="+mn-lt"/>
              </a:rPr>
              <a:t>Enforce RBAC at the retrieval layer, not just the UI.</a:t>
            </a:r>
          </a:p>
          <a:p>
            <a:pPr>
              <a:lnSpc>
                <a:spcPct val="150000"/>
              </a:lnSpc>
              <a:spcAft>
                <a:spcPts val="1600"/>
              </a:spcAft>
              <a:buSzPct val="100000"/>
            </a:pPr>
            <a:r>
              <a:rPr lang="en-US" sz="2400" b="0" dirty="0">
                <a:solidFill>
                  <a:srgbClr val="5583D1"/>
                </a:solidFill>
                <a:latin typeface="+mn-lt"/>
              </a:rPr>
              <a:t>Block unauthorized chunks from ever reaching the LLM.</a:t>
            </a:r>
          </a:p>
          <a:p>
            <a:pPr>
              <a:lnSpc>
                <a:spcPct val="150000"/>
              </a:lnSpc>
              <a:spcAft>
                <a:spcPts val="1600"/>
              </a:spcAft>
              <a:buSzPct val="100000"/>
            </a:pPr>
            <a:r>
              <a:rPr lang="en-US" sz="2400" b="0" dirty="0">
                <a:solidFill>
                  <a:srgbClr val="5583D1"/>
                </a:solidFill>
                <a:latin typeface="+mn-lt"/>
              </a:rPr>
              <a:t>Give admins tools to manage users and audit logins.</a:t>
            </a:r>
          </a:p>
          <a:p>
            <a:pPr>
              <a:lnSpc>
                <a:spcPct val="150000"/>
              </a:lnSpc>
              <a:spcAft>
                <a:spcPts val="1600"/>
              </a:spcAft>
              <a:buSzPct val="100000"/>
            </a:pPr>
            <a:r>
              <a:rPr lang="en-US" sz="2400" b="0" dirty="0">
                <a:solidFill>
                  <a:srgbClr val="5583D1"/>
                </a:solidFill>
                <a:latin typeface="+mn-lt"/>
              </a:rPr>
              <a:t>Deliver a working full-stack demo with real authentication.</a:t>
            </a: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5C4E5AD-F938-3DF0-87EB-B33473518C21}"/>
              </a:ext>
            </a:extLst>
          </p:cNvPr>
          <p:cNvSpPr txBox="1"/>
          <p:nvPr/>
        </p:nvSpPr>
        <p:spPr>
          <a:xfrm>
            <a:off x="3912125" y="57036"/>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8" name="Rectangle 7">
            <a:extLst>
              <a:ext uri="{FF2B5EF4-FFF2-40B4-BE49-F238E27FC236}">
                <a16:creationId xmlns:a16="http://schemas.microsoft.com/office/drawing/2014/main" id="{4D549017-0E91-F5C7-E849-0D494C0313E7}"/>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9" name="Picture 6" descr="LTM Limited (Formerly LTIMindtree Limited)">
            <a:extLst>
              <a:ext uri="{FF2B5EF4-FFF2-40B4-BE49-F238E27FC236}">
                <a16:creationId xmlns:a16="http://schemas.microsoft.com/office/drawing/2014/main" id="{72D1A61C-8BDB-B51A-40AE-E9C0B25CBA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Modules to cover</a:t>
            </a:r>
          </a:p>
        </p:txBody>
      </p:sp>
      <p:cxnSp>
        <p:nvCxnSpPr>
          <p:cNvPr id="5" name="Straight Connector 4">
            <a:extLst>
              <a:ext uri="{FF2B5EF4-FFF2-40B4-BE49-F238E27FC236}">
                <a16:creationId xmlns:a16="http://schemas.microsoft.com/office/drawing/2014/main" id="{25CD5B67-3503-60B5-8469-F3C3191D84D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F01665B-C1F1-9A39-E419-0AFCC4BE0EFD}"/>
              </a:ext>
            </a:extLst>
          </p:cNvPr>
          <p:cNvSpPr txBox="1"/>
          <p:nvPr/>
        </p:nvSpPr>
        <p:spPr>
          <a:xfrm>
            <a:off x="4072380"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Rectangle 6">
            <a:extLst>
              <a:ext uri="{FF2B5EF4-FFF2-40B4-BE49-F238E27FC236}">
                <a16:creationId xmlns:a16="http://schemas.microsoft.com/office/drawing/2014/main" id="{C5B63B2D-7B75-C470-2E06-DBCE99141014}"/>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E4316486-4CBB-6223-6F62-CBC22688DB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9" name="Shape 4">
            <a:extLst>
              <a:ext uri="{FF2B5EF4-FFF2-40B4-BE49-F238E27FC236}">
                <a16:creationId xmlns:a16="http://schemas.microsoft.com/office/drawing/2014/main" id="{A1C0A09B-4A68-05FE-7C52-AF4AB962A397}"/>
              </a:ext>
            </a:extLst>
          </p:cNvPr>
          <p:cNvSpPr/>
          <p:nvPr/>
        </p:nvSpPr>
        <p:spPr>
          <a:xfrm>
            <a:off x="512439" y="155464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10" name="Shape 5">
            <a:extLst>
              <a:ext uri="{FF2B5EF4-FFF2-40B4-BE49-F238E27FC236}">
                <a16:creationId xmlns:a16="http://schemas.microsoft.com/office/drawing/2014/main" id="{A0BF02D0-F07E-9D7D-2B77-A3B35A98442D}"/>
              </a:ext>
            </a:extLst>
          </p:cNvPr>
          <p:cNvSpPr/>
          <p:nvPr/>
        </p:nvSpPr>
        <p:spPr>
          <a:xfrm>
            <a:off x="677031" y="1815245"/>
            <a:ext cx="502920" cy="502920"/>
          </a:xfrm>
          <a:prstGeom prst="ellipse">
            <a:avLst/>
          </a:prstGeom>
          <a:solidFill>
            <a:srgbClr val="1E2761"/>
          </a:solidFill>
          <a:ln/>
        </p:spPr>
        <p:txBody>
          <a:bodyPr/>
          <a:lstStyle/>
          <a:p>
            <a:endParaRPr lang="en-IN"/>
          </a:p>
        </p:txBody>
      </p:sp>
      <p:sp>
        <p:nvSpPr>
          <p:cNvPr id="11" name="Text 6">
            <a:extLst>
              <a:ext uri="{FF2B5EF4-FFF2-40B4-BE49-F238E27FC236}">
                <a16:creationId xmlns:a16="http://schemas.microsoft.com/office/drawing/2014/main" id="{39080F93-4354-390A-EBBE-306BE59734B4}"/>
              </a:ext>
            </a:extLst>
          </p:cNvPr>
          <p:cNvSpPr txBox="1"/>
          <p:nvPr/>
        </p:nvSpPr>
        <p:spPr>
          <a:xfrm>
            <a:off x="677031" y="181524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1</a:t>
            </a:r>
            <a:endParaRPr lang="en-US" sz="1870" dirty="0"/>
          </a:p>
        </p:txBody>
      </p:sp>
      <p:sp>
        <p:nvSpPr>
          <p:cNvPr id="12" name="Text 7">
            <a:extLst>
              <a:ext uri="{FF2B5EF4-FFF2-40B4-BE49-F238E27FC236}">
                <a16:creationId xmlns:a16="http://schemas.microsoft.com/office/drawing/2014/main" id="{2F563EB3-0A20-29B0-F3BE-999A345787DD}"/>
              </a:ext>
            </a:extLst>
          </p:cNvPr>
          <p:cNvSpPr txBox="1"/>
          <p:nvPr/>
        </p:nvSpPr>
        <p:spPr>
          <a:xfrm>
            <a:off x="1335399" y="155464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Data Ingestion &amp; Chunking</a:t>
            </a:r>
            <a:endParaRPr lang="en-US" sz="1500" dirty="0"/>
          </a:p>
        </p:txBody>
      </p:sp>
      <p:sp>
        <p:nvSpPr>
          <p:cNvPr id="13" name="Shape 8">
            <a:extLst>
              <a:ext uri="{FF2B5EF4-FFF2-40B4-BE49-F238E27FC236}">
                <a16:creationId xmlns:a16="http://schemas.microsoft.com/office/drawing/2014/main" id="{4C591075-74BE-6B88-2A10-A2FDF00DF565}"/>
              </a:ext>
            </a:extLst>
          </p:cNvPr>
          <p:cNvSpPr/>
          <p:nvPr/>
        </p:nvSpPr>
        <p:spPr>
          <a:xfrm>
            <a:off x="6149715" y="155464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14" name="Shape 9">
            <a:extLst>
              <a:ext uri="{FF2B5EF4-FFF2-40B4-BE49-F238E27FC236}">
                <a16:creationId xmlns:a16="http://schemas.microsoft.com/office/drawing/2014/main" id="{A17FCF80-8FA0-E4B4-AB0C-5944343B231B}"/>
              </a:ext>
            </a:extLst>
          </p:cNvPr>
          <p:cNvSpPr/>
          <p:nvPr/>
        </p:nvSpPr>
        <p:spPr>
          <a:xfrm>
            <a:off x="6314307" y="1815245"/>
            <a:ext cx="502920" cy="502920"/>
          </a:xfrm>
          <a:prstGeom prst="ellipse">
            <a:avLst/>
          </a:prstGeom>
          <a:solidFill>
            <a:srgbClr val="1E2761"/>
          </a:solidFill>
          <a:ln/>
        </p:spPr>
        <p:txBody>
          <a:bodyPr/>
          <a:lstStyle/>
          <a:p>
            <a:endParaRPr lang="en-IN"/>
          </a:p>
        </p:txBody>
      </p:sp>
      <p:sp>
        <p:nvSpPr>
          <p:cNvPr id="15" name="Text 10">
            <a:extLst>
              <a:ext uri="{FF2B5EF4-FFF2-40B4-BE49-F238E27FC236}">
                <a16:creationId xmlns:a16="http://schemas.microsoft.com/office/drawing/2014/main" id="{28CFD482-69F8-742A-CD65-E42D8B4DE873}"/>
              </a:ext>
            </a:extLst>
          </p:cNvPr>
          <p:cNvSpPr txBox="1"/>
          <p:nvPr/>
        </p:nvSpPr>
        <p:spPr>
          <a:xfrm>
            <a:off x="6314307" y="181524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2</a:t>
            </a:r>
            <a:endParaRPr lang="en-US" sz="1870" dirty="0"/>
          </a:p>
        </p:txBody>
      </p:sp>
      <p:sp>
        <p:nvSpPr>
          <p:cNvPr id="16" name="Text 11">
            <a:extLst>
              <a:ext uri="{FF2B5EF4-FFF2-40B4-BE49-F238E27FC236}">
                <a16:creationId xmlns:a16="http://schemas.microsoft.com/office/drawing/2014/main" id="{F22BD0E9-CA5E-B269-A0D1-CDA4A760740D}"/>
              </a:ext>
            </a:extLst>
          </p:cNvPr>
          <p:cNvSpPr txBox="1"/>
          <p:nvPr/>
        </p:nvSpPr>
        <p:spPr>
          <a:xfrm>
            <a:off x="6972675" y="155464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Vector Database &amp; Embedding Storage</a:t>
            </a:r>
            <a:endParaRPr lang="en-US" sz="1500" dirty="0"/>
          </a:p>
        </p:txBody>
      </p:sp>
      <p:sp>
        <p:nvSpPr>
          <p:cNvPr id="17" name="Shape 12">
            <a:extLst>
              <a:ext uri="{FF2B5EF4-FFF2-40B4-BE49-F238E27FC236}">
                <a16:creationId xmlns:a16="http://schemas.microsoft.com/office/drawing/2014/main" id="{2896E952-EF91-A459-D08B-E75A49CA8B1B}"/>
              </a:ext>
            </a:extLst>
          </p:cNvPr>
          <p:cNvSpPr/>
          <p:nvPr/>
        </p:nvSpPr>
        <p:spPr>
          <a:xfrm>
            <a:off x="512439" y="274336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18" name="Shape 13">
            <a:extLst>
              <a:ext uri="{FF2B5EF4-FFF2-40B4-BE49-F238E27FC236}">
                <a16:creationId xmlns:a16="http://schemas.microsoft.com/office/drawing/2014/main" id="{E9CB7F38-3360-8E62-6EF5-6F078A1E3920}"/>
              </a:ext>
            </a:extLst>
          </p:cNvPr>
          <p:cNvSpPr/>
          <p:nvPr/>
        </p:nvSpPr>
        <p:spPr>
          <a:xfrm>
            <a:off x="677031" y="3003965"/>
            <a:ext cx="502920" cy="502920"/>
          </a:xfrm>
          <a:prstGeom prst="ellipse">
            <a:avLst/>
          </a:prstGeom>
          <a:solidFill>
            <a:srgbClr val="1E2761"/>
          </a:solidFill>
          <a:ln/>
        </p:spPr>
        <p:txBody>
          <a:bodyPr/>
          <a:lstStyle/>
          <a:p>
            <a:endParaRPr lang="en-IN"/>
          </a:p>
        </p:txBody>
      </p:sp>
      <p:sp>
        <p:nvSpPr>
          <p:cNvPr id="19" name="Text 14">
            <a:extLst>
              <a:ext uri="{FF2B5EF4-FFF2-40B4-BE49-F238E27FC236}">
                <a16:creationId xmlns:a16="http://schemas.microsoft.com/office/drawing/2014/main" id="{E3458C21-6AF0-A10D-86D1-1FF94A7EBC12}"/>
              </a:ext>
            </a:extLst>
          </p:cNvPr>
          <p:cNvSpPr txBox="1"/>
          <p:nvPr/>
        </p:nvSpPr>
        <p:spPr>
          <a:xfrm>
            <a:off x="677031" y="300396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3</a:t>
            </a:r>
            <a:endParaRPr lang="en-US" sz="1870" dirty="0"/>
          </a:p>
        </p:txBody>
      </p:sp>
      <p:sp>
        <p:nvSpPr>
          <p:cNvPr id="20" name="Text 15">
            <a:extLst>
              <a:ext uri="{FF2B5EF4-FFF2-40B4-BE49-F238E27FC236}">
                <a16:creationId xmlns:a16="http://schemas.microsoft.com/office/drawing/2014/main" id="{92950EE7-3CC0-4089-4E74-0C9C031B3FE5}"/>
              </a:ext>
            </a:extLst>
          </p:cNvPr>
          <p:cNvSpPr txBox="1"/>
          <p:nvPr/>
        </p:nvSpPr>
        <p:spPr>
          <a:xfrm>
            <a:off x="1335399" y="274336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RBAC Policy Engine</a:t>
            </a:r>
            <a:endParaRPr lang="en-US" sz="1500" dirty="0"/>
          </a:p>
        </p:txBody>
      </p:sp>
      <p:sp>
        <p:nvSpPr>
          <p:cNvPr id="21" name="Shape 16">
            <a:extLst>
              <a:ext uri="{FF2B5EF4-FFF2-40B4-BE49-F238E27FC236}">
                <a16:creationId xmlns:a16="http://schemas.microsoft.com/office/drawing/2014/main" id="{B8D64F29-E160-BD9F-007C-F7250E7C23F0}"/>
              </a:ext>
            </a:extLst>
          </p:cNvPr>
          <p:cNvSpPr/>
          <p:nvPr/>
        </p:nvSpPr>
        <p:spPr>
          <a:xfrm>
            <a:off x="6149715" y="274336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22" name="Shape 17">
            <a:extLst>
              <a:ext uri="{FF2B5EF4-FFF2-40B4-BE49-F238E27FC236}">
                <a16:creationId xmlns:a16="http://schemas.microsoft.com/office/drawing/2014/main" id="{CF27F0C2-C498-66C7-9920-674B07F3C892}"/>
              </a:ext>
            </a:extLst>
          </p:cNvPr>
          <p:cNvSpPr/>
          <p:nvPr/>
        </p:nvSpPr>
        <p:spPr>
          <a:xfrm>
            <a:off x="6314307" y="3003965"/>
            <a:ext cx="502920" cy="502920"/>
          </a:xfrm>
          <a:prstGeom prst="ellipse">
            <a:avLst/>
          </a:prstGeom>
          <a:solidFill>
            <a:srgbClr val="1E2761"/>
          </a:solidFill>
          <a:ln/>
        </p:spPr>
        <p:txBody>
          <a:bodyPr/>
          <a:lstStyle/>
          <a:p>
            <a:endParaRPr lang="en-IN"/>
          </a:p>
        </p:txBody>
      </p:sp>
      <p:sp>
        <p:nvSpPr>
          <p:cNvPr id="23" name="Text 18">
            <a:extLst>
              <a:ext uri="{FF2B5EF4-FFF2-40B4-BE49-F238E27FC236}">
                <a16:creationId xmlns:a16="http://schemas.microsoft.com/office/drawing/2014/main" id="{D5F7D005-20B8-7278-051A-6F72FCF4A831}"/>
              </a:ext>
            </a:extLst>
          </p:cNvPr>
          <p:cNvSpPr txBox="1"/>
          <p:nvPr/>
        </p:nvSpPr>
        <p:spPr>
          <a:xfrm>
            <a:off x="6314307" y="300396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4</a:t>
            </a:r>
            <a:endParaRPr lang="en-US" sz="1870" dirty="0"/>
          </a:p>
        </p:txBody>
      </p:sp>
      <p:sp>
        <p:nvSpPr>
          <p:cNvPr id="24" name="Text 19">
            <a:extLst>
              <a:ext uri="{FF2B5EF4-FFF2-40B4-BE49-F238E27FC236}">
                <a16:creationId xmlns:a16="http://schemas.microsoft.com/office/drawing/2014/main" id="{7B18C14D-1A79-F962-BDB7-CFCA36ACF276}"/>
              </a:ext>
            </a:extLst>
          </p:cNvPr>
          <p:cNvSpPr txBox="1"/>
          <p:nvPr/>
        </p:nvSpPr>
        <p:spPr>
          <a:xfrm>
            <a:off x="6972675" y="274336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Secure Authentication</a:t>
            </a:r>
            <a:endParaRPr lang="en-US" sz="1500" dirty="0"/>
          </a:p>
        </p:txBody>
      </p:sp>
      <p:sp>
        <p:nvSpPr>
          <p:cNvPr id="25" name="Shape 20">
            <a:extLst>
              <a:ext uri="{FF2B5EF4-FFF2-40B4-BE49-F238E27FC236}">
                <a16:creationId xmlns:a16="http://schemas.microsoft.com/office/drawing/2014/main" id="{AD4B2FEB-D721-B5B8-F97D-A9B74EA160E3}"/>
              </a:ext>
            </a:extLst>
          </p:cNvPr>
          <p:cNvSpPr/>
          <p:nvPr/>
        </p:nvSpPr>
        <p:spPr>
          <a:xfrm>
            <a:off x="512439" y="393208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26" name="Shape 21">
            <a:extLst>
              <a:ext uri="{FF2B5EF4-FFF2-40B4-BE49-F238E27FC236}">
                <a16:creationId xmlns:a16="http://schemas.microsoft.com/office/drawing/2014/main" id="{A43CB245-E08D-594A-21A2-C8F1316C25CB}"/>
              </a:ext>
            </a:extLst>
          </p:cNvPr>
          <p:cNvSpPr/>
          <p:nvPr/>
        </p:nvSpPr>
        <p:spPr>
          <a:xfrm>
            <a:off x="677031" y="4192685"/>
            <a:ext cx="502920" cy="502920"/>
          </a:xfrm>
          <a:prstGeom prst="ellipse">
            <a:avLst/>
          </a:prstGeom>
          <a:solidFill>
            <a:srgbClr val="1E2761"/>
          </a:solidFill>
          <a:ln/>
        </p:spPr>
        <p:txBody>
          <a:bodyPr/>
          <a:lstStyle/>
          <a:p>
            <a:endParaRPr lang="en-IN"/>
          </a:p>
        </p:txBody>
      </p:sp>
      <p:sp>
        <p:nvSpPr>
          <p:cNvPr id="27" name="Text 22">
            <a:extLst>
              <a:ext uri="{FF2B5EF4-FFF2-40B4-BE49-F238E27FC236}">
                <a16:creationId xmlns:a16="http://schemas.microsoft.com/office/drawing/2014/main" id="{B82726FD-8D87-2925-EB11-D83636FB8FC2}"/>
              </a:ext>
            </a:extLst>
          </p:cNvPr>
          <p:cNvSpPr txBox="1"/>
          <p:nvPr/>
        </p:nvSpPr>
        <p:spPr>
          <a:xfrm>
            <a:off x="677031" y="419268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5</a:t>
            </a:r>
            <a:endParaRPr lang="en-US" sz="1870" dirty="0"/>
          </a:p>
        </p:txBody>
      </p:sp>
      <p:sp>
        <p:nvSpPr>
          <p:cNvPr id="28" name="Text 23">
            <a:extLst>
              <a:ext uri="{FF2B5EF4-FFF2-40B4-BE49-F238E27FC236}">
                <a16:creationId xmlns:a16="http://schemas.microsoft.com/office/drawing/2014/main" id="{65500CE8-B7CA-5114-FF69-057793ACABF3}"/>
              </a:ext>
            </a:extLst>
          </p:cNvPr>
          <p:cNvSpPr txBox="1"/>
          <p:nvPr/>
        </p:nvSpPr>
        <p:spPr>
          <a:xfrm>
            <a:off x="1335399" y="393208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RBAC-Filtered Retrieval</a:t>
            </a:r>
            <a:endParaRPr lang="en-US" sz="1500" dirty="0"/>
          </a:p>
        </p:txBody>
      </p:sp>
      <p:sp>
        <p:nvSpPr>
          <p:cNvPr id="29" name="Shape 24">
            <a:extLst>
              <a:ext uri="{FF2B5EF4-FFF2-40B4-BE49-F238E27FC236}">
                <a16:creationId xmlns:a16="http://schemas.microsoft.com/office/drawing/2014/main" id="{6E9CDA3E-400D-911A-6837-BBC17D798075}"/>
              </a:ext>
            </a:extLst>
          </p:cNvPr>
          <p:cNvSpPr/>
          <p:nvPr/>
        </p:nvSpPr>
        <p:spPr>
          <a:xfrm>
            <a:off x="6149715" y="393208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30" name="Shape 25">
            <a:extLst>
              <a:ext uri="{FF2B5EF4-FFF2-40B4-BE49-F238E27FC236}">
                <a16:creationId xmlns:a16="http://schemas.microsoft.com/office/drawing/2014/main" id="{6900283B-AE50-7FCB-EA32-5E82A7B3FD99}"/>
              </a:ext>
            </a:extLst>
          </p:cNvPr>
          <p:cNvSpPr/>
          <p:nvPr/>
        </p:nvSpPr>
        <p:spPr>
          <a:xfrm>
            <a:off x="6314307" y="4192685"/>
            <a:ext cx="502920" cy="502920"/>
          </a:xfrm>
          <a:prstGeom prst="ellipse">
            <a:avLst/>
          </a:prstGeom>
          <a:solidFill>
            <a:srgbClr val="1E2761"/>
          </a:solidFill>
          <a:ln/>
        </p:spPr>
        <p:txBody>
          <a:bodyPr/>
          <a:lstStyle/>
          <a:p>
            <a:endParaRPr lang="en-IN"/>
          </a:p>
        </p:txBody>
      </p:sp>
      <p:sp>
        <p:nvSpPr>
          <p:cNvPr id="31" name="Text 26">
            <a:extLst>
              <a:ext uri="{FF2B5EF4-FFF2-40B4-BE49-F238E27FC236}">
                <a16:creationId xmlns:a16="http://schemas.microsoft.com/office/drawing/2014/main" id="{6692C8DB-812B-7221-3792-2BFA63DA9D4F}"/>
              </a:ext>
            </a:extLst>
          </p:cNvPr>
          <p:cNvSpPr txBox="1"/>
          <p:nvPr/>
        </p:nvSpPr>
        <p:spPr>
          <a:xfrm>
            <a:off x="6314307" y="419268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6</a:t>
            </a:r>
            <a:endParaRPr lang="en-US" sz="1870" dirty="0"/>
          </a:p>
        </p:txBody>
      </p:sp>
      <p:sp>
        <p:nvSpPr>
          <p:cNvPr id="32" name="Text 27">
            <a:extLst>
              <a:ext uri="{FF2B5EF4-FFF2-40B4-BE49-F238E27FC236}">
                <a16:creationId xmlns:a16="http://schemas.microsoft.com/office/drawing/2014/main" id="{C96A6EEB-8DFB-BF21-30B9-724106DE3245}"/>
              </a:ext>
            </a:extLst>
          </p:cNvPr>
          <p:cNvSpPr txBox="1"/>
          <p:nvPr/>
        </p:nvSpPr>
        <p:spPr>
          <a:xfrm>
            <a:off x="6972675" y="393208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RAG Answer Generation</a:t>
            </a:r>
            <a:endParaRPr lang="en-US" sz="1500" dirty="0"/>
          </a:p>
        </p:txBody>
      </p:sp>
      <p:sp>
        <p:nvSpPr>
          <p:cNvPr id="33" name="Shape 28">
            <a:extLst>
              <a:ext uri="{FF2B5EF4-FFF2-40B4-BE49-F238E27FC236}">
                <a16:creationId xmlns:a16="http://schemas.microsoft.com/office/drawing/2014/main" id="{CC124553-56F4-E6BF-F834-778F8585C7B1}"/>
              </a:ext>
            </a:extLst>
          </p:cNvPr>
          <p:cNvSpPr/>
          <p:nvPr/>
        </p:nvSpPr>
        <p:spPr>
          <a:xfrm>
            <a:off x="512439" y="512080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34" name="Shape 29">
            <a:extLst>
              <a:ext uri="{FF2B5EF4-FFF2-40B4-BE49-F238E27FC236}">
                <a16:creationId xmlns:a16="http://schemas.microsoft.com/office/drawing/2014/main" id="{2D3BA62B-94C7-C20B-AE12-ADBE13330335}"/>
              </a:ext>
            </a:extLst>
          </p:cNvPr>
          <p:cNvSpPr/>
          <p:nvPr/>
        </p:nvSpPr>
        <p:spPr>
          <a:xfrm>
            <a:off x="677031" y="5381405"/>
            <a:ext cx="502920" cy="502920"/>
          </a:xfrm>
          <a:prstGeom prst="ellipse">
            <a:avLst/>
          </a:prstGeom>
          <a:solidFill>
            <a:srgbClr val="1E2761"/>
          </a:solidFill>
          <a:ln/>
        </p:spPr>
        <p:txBody>
          <a:bodyPr/>
          <a:lstStyle/>
          <a:p>
            <a:endParaRPr lang="en-IN"/>
          </a:p>
        </p:txBody>
      </p:sp>
      <p:sp>
        <p:nvSpPr>
          <p:cNvPr id="35" name="Text 30">
            <a:extLst>
              <a:ext uri="{FF2B5EF4-FFF2-40B4-BE49-F238E27FC236}">
                <a16:creationId xmlns:a16="http://schemas.microsoft.com/office/drawing/2014/main" id="{343C3D93-274B-78C7-5C3A-B1334C69ADFC}"/>
              </a:ext>
            </a:extLst>
          </p:cNvPr>
          <p:cNvSpPr txBox="1"/>
          <p:nvPr/>
        </p:nvSpPr>
        <p:spPr>
          <a:xfrm>
            <a:off x="677031" y="538140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7</a:t>
            </a:r>
            <a:endParaRPr lang="en-US" sz="1870" dirty="0"/>
          </a:p>
        </p:txBody>
      </p:sp>
      <p:sp>
        <p:nvSpPr>
          <p:cNvPr id="36" name="Text 31">
            <a:extLst>
              <a:ext uri="{FF2B5EF4-FFF2-40B4-BE49-F238E27FC236}">
                <a16:creationId xmlns:a16="http://schemas.microsoft.com/office/drawing/2014/main" id="{76A0DD45-803F-C074-3185-7871DEB98D04}"/>
              </a:ext>
            </a:extLst>
          </p:cNvPr>
          <p:cNvSpPr txBox="1"/>
          <p:nvPr/>
        </p:nvSpPr>
        <p:spPr>
          <a:xfrm>
            <a:off x="1335399" y="512080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Admin &amp; Audit Module</a:t>
            </a:r>
            <a:endParaRPr lang="en-US" sz="1500" dirty="0"/>
          </a:p>
        </p:txBody>
      </p:sp>
      <p:sp>
        <p:nvSpPr>
          <p:cNvPr id="37" name="Shape 32">
            <a:extLst>
              <a:ext uri="{FF2B5EF4-FFF2-40B4-BE49-F238E27FC236}">
                <a16:creationId xmlns:a16="http://schemas.microsoft.com/office/drawing/2014/main" id="{AB4BAD79-BCE7-CA02-4904-AD55CD988481}"/>
              </a:ext>
            </a:extLst>
          </p:cNvPr>
          <p:cNvSpPr/>
          <p:nvPr/>
        </p:nvSpPr>
        <p:spPr>
          <a:xfrm>
            <a:off x="6149715" y="512080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38" name="Shape 33">
            <a:extLst>
              <a:ext uri="{FF2B5EF4-FFF2-40B4-BE49-F238E27FC236}">
                <a16:creationId xmlns:a16="http://schemas.microsoft.com/office/drawing/2014/main" id="{C93BAD41-348D-B7D0-74DD-5FC2FD5381B4}"/>
              </a:ext>
            </a:extLst>
          </p:cNvPr>
          <p:cNvSpPr/>
          <p:nvPr/>
        </p:nvSpPr>
        <p:spPr>
          <a:xfrm>
            <a:off x="6314307" y="5381405"/>
            <a:ext cx="502920" cy="502920"/>
          </a:xfrm>
          <a:prstGeom prst="ellipse">
            <a:avLst/>
          </a:prstGeom>
          <a:solidFill>
            <a:srgbClr val="1E2761"/>
          </a:solidFill>
          <a:ln/>
        </p:spPr>
        <p:txBody>
          <a:bodyPr/>
          <a:lstStyle/>
          <a:p>
            <a:endParaRPr lang="en-IN"/>
          </a:p>
        </p:txBody>
      </p:sp>
      <p:sp>
        <p:nvSpPr>
          <p:cNvPr id="39" name="Text 34">
            <a:extLst>
              <a:ext uri="{FF2B5EF4-FFF2-40B4-BE49-F238E27FC236}">
                <a16:creationId xmlns:a16="http://schemas.microsoft.com/office/drawing/2014/main" id="{9AFFDC99-7B64-D5E2-E919-CE6B7B76E20D}"/>
              </a:ext>
            </a:extLst>
          </p:cNvPr>
          <p:cNvSpPr txBox="1"/>
          <p:nvPr/>
        </p:nvSpPr>
        <p:spPr>
          <a:xfrm>
            <a:off x="6314307" y="538140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8</a:t>
            </a:r>
            <a:endParaRPr lang="en-US" sz="1870" dirty="0"/>
          </a:p>
        </p:txBody>
      </p:sp>
      <p:sp>
        <p:nvSpPr>
          <p:cNvPr id="40" name="Text 35">
            <a:extLst>
              <a:ext uri="{FF2B5EF4-FFF2-40B4-BE49-F238E27FC236}">
                <a16:creationId xmlns:a16="http://schemas.microsoft.com/office/drawing/2014/main" id="{C057E582-1514-A263-ED8E-C0F864DB539D}"/>
              </a:ext>
            </a:extLst>
          </p:cNvPr>
          <p:cNvSpPr txBox="1"/>
          <p:nvPr/>
        </p:nvSpPr>
        <p:spPr>
          <a:xfrm>
            <a:off x="6972675" y="512080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Web Frontend (Node.js)</a:t>
            </a:r>
            <a:endParaRPr lang="en-US" sz="1500" dirty="0"/>
          </a:p>
        </p:txBody>
      </p:sp>
    </p:spTree>
    <p:extLst>
      <p:ext uri="{BB962C8B-B14F-4D97-AF65-F5344CB8AC3E}">
        <p14:creationId xmlns:p14="http://schemas.microsoft.com/office/powerpoint/2010/main" val="1187364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D696441-F9F2-D11C-5B38-72F739284747}"/>
              </a:ext>
            </a:extLst>
          </p:cNvPr>
          <p:cNvSpPr>
            <a:spLocks noGrp="1"/>
          </p:cNvSpPr>
          <p:nvPr>
            <p:ph type="body" sz="quarter" idx="15"/>
          </p:nvPr>
        </p:nvSpPr>
        <p:spPr/>
        <p:txBody>
          <a:bodyPr/>
          <a:lstStyle/>
          <a:p>
            <a:pPr marL="0" indent="0">
              <a:buNone/>
            </a:pPr>
            <a:r>
              <a:rPr lang="en-IN" dirty="0"/>
              <a:t>Frontend</a:t>
            </a:r>
          </a:p>
        </p:txBody>
      </p:sp>
      <p:pic>
        <p:nvPicPr>
          <p:cNvPr id="5" name="Picture 4">
            <a:extLst>
              <a:ext uri="{FF2B5EF4-FFF2-40B4-BE49-F238E27FC236}">
                <a16:creationId xmlns:a16="http://schemas.microsoft.com/office/drawing/2014/main" id="{42AC60F5-0485-F351-B9DB-8526082C0BFC}"/>
              </a:ext>
            </a:extLst>
          </p:cNvPr>
          <p:cNvPicPr>
            <a:picLocks noChangeAspect="1"/>
          </p:cNvPicPr>
          <p:nvPr/>
        </p:nvPicPr>
        <p:blipFill>
          <a:blip r:embed="rId2"/>
          <a:stretch>
            <a:fillRect/>
          </a:stretch>
        </p:blipFill>
        <p:spPr>
          <a:xfrm>
            <a:off x="6422570" y="1659661"/>
            <a:ext cx="5513561" cy="3111411"/>
          </a:xfrm>
          <a:prstGeom prst="rect">
            <a:avLst/>
          </a:prstGeom>
        </p:spPr>
      </p:pic>
      <p:pic>
        <p:nvPicPr>
          <p:cNvPr id="7" name="Picture 6">
            <a:extLst>
              <a:ext uri="{FF2B5EF4-FFF2-40B4-BE49-F238E27FC236}">
                <a16:creationId xmlns:a16="http://schemas.microsoft.com/office/drawing/2014/main" id="{3BAB200B-728B-8971-267A-630C4A45CB83}"/>
              </a:ext>
            </a:extLst>
          </p:cNvPr>
          <p:cNvPicPr>
            <a:picLocks noChangeAspect="1"/>
          </p:cNvPicPr>
          <p:nvPr/>
        </p:nvPicPr>
        <p:blipFill>
          <a:blip r:embed="rId3"/>
          <a:stretch>
            <a:fillRect/>
          </a:stretch>
        </p:blipFill>
        <p:spPr>
          <a:xfrm>
            <a:off x="390623" y="1659661"/>
            <a:ext cx="5847990" cy="3111411"/>
          </a:xfrm>
          <a:prstGeom prst="rect">
            <a:avLst/>
          </a:prstGeom>
        </p:spPr>
      </p:pic>
    </p:spTree>
    <p:extLst>
      <p:ext uri="{BB962C8B-B14F-4D97-AF65-F5344CB8AC3E}">
        <p14:creationId xmlns:p14="http://schemas.microsoft.com/office/powerpoint/2010/main" val="320275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3DB6943-F3BB-1066-2C2F-8A50C60EAC67}"/>
              </a:ext>
            </a:extLst>
          </p:cNvPr>
          <p:cNvSpPr>
            <a:spLocks noGrp="1"/>
          </p:cNvSpPr>
          <p:nvPr>
            <p:ph type="body" sz="quarter" idx="15"/>
          </p:nvPr>
        </p:nvSpPr>
        <p:spPr/>
        <p:txBody>
          <a:bodyPr/>
          <a:lstStyle/>
          <a:p>
            <a:r>
              <a:rPr lang="en-IN" dirty="0"/>
              <a:t>Methodology / </a:t>
            </a:r>
            <a:r>
              <a:rPr lang="en-IN" dirty="0" err="1"/>
              <a:t>Modeling</a:t>
            </a:r>
            <a:r>
              <a:rPr lang="en-IN" dirty="0"/>
              <a:t> Plan</a:t>
            </a:r>
          </a:p>
        </p:txBody>
      </p:sp>
      <p:sp>
        <p:nvSpPr>
          <p:cNvPr id="5" name="TextBox 4">
            <a:extLst>
              <a:ext uri="{FF2B5EF4-FFF2-40B4-BE49-F238E27FC236}">
                <a16:creationId xmlns:a16="http://schemas.microsoft.com/office/drawing/2014/main" id="{8FD9F823-A3E9-E291-3728-22BC66BD56D4}"/>
              </a:ext>
            </a:extLst>
          </p:cNvPr>
          <p:cNvSpPr txBox="1"/>
          <p:nvPr/>
        </p:nvSpPr>
        <p:spPr>
          <a:xfrm>
            <a:off x="522514" y="1520785"/>
            <a:ext cx="11430000" cy="4524315"/>
          </a:xfrm>
          <a:prstGeom prst="rect">
            <a:avLst/>
          </a:prstGeom>
          <a:noFill/>
        </p:spPr>
        <p:txBody>
          <a:bodyPr wrap="square">
            <a:spAutoFit/>
          </a:bodyPr>
          <a:lstStyle/>
          <a:p>
            <a:pPr marL="342900" lvl="0" indent="-342900" rtl="0">
              <a:buFont typeface="Arial" panose="020B0604020202020204" pitchFamily="34" charset="0"/>
              <a:buChar char="•"/>
            </a:pPr>
            <a:r>
              <a:rPr lang="en-IN" sz="2400" dirty="0">
                <a:solidFill>
                  <a:srgbClr val="2A2E43"/>
                </a:solidFill>
                <a:ea typeface="Calibri" pitchFamily="34" charset="-122"/>
                <a:cs typeface="Calibri" pitchFamily="34" charset="-120"/>
              </a:rPr>
              <a:t>Adopt</a:t>
            </a:r>
            <a:r>
              <a:rPr lang="en-IN" sz="2400" dirty="0"/>
              <a:t> a Retrieval-Augmented Generation (RAG) approach: retrieve relevant document chunks before generating an answer, rather than relying on the LLM's parametric memory alone.</a:t>
            </a:r>
          </a:p>
          <a:p>
            <a:pPr marL="342900" lvl="0" indent="-342900" rtl="0">
              <a:buFont typeface="Arial" panose="020B0604020202020204" pitchFamily="34" charset="0"/>
              <a:buChar char="•"/>
            </a:pPr>
            <a:r>
              <a:rPr lang="en-IN" sz="2400" dirty="0"/>
              <a:t>Layer Role-Based Access Control (RBAC) directly into the retrieval step, so access is enforced before generation, not after.</a:t>
            </a:r>
          </a:p>
          <a:p>
            <a:pPr marL="342900" lvl="0" indent="-342900" rtl="0">
              <a:buFont typeface="Arial" panose="020B0604020202020204" pitchFamily="34" charset="0"/>
              <a:buChar char="•"/>
            </a:pPr>
            <a:r>
              <a:rPr lang="en-IN" sz="2400" dirty="0"/>
              <a:t>Build the system incrementally: ingestion → RBAC-filtered retrieval → answer generation → authentication → admin </a:t>
            </a:r>
            <a:r>
              <a:rPr lang="en-IN" sz="2400" dirty="0">
                <a:solidFill>
                  <a:srgbClr val="2A2E43"/>
                </a:solidFill>
                <a:ea typeface="Calibri" pitchFamily="34" charset="-122"/>
                <a:cs typeface="Calibri" pitchFamily="34" charset="-120"/>
              </a:rPr>
              <a:t>controls</a:t>
            </a:r>
            <a:r>
              <a:rPr lang="en-IN" sz="2400" dirty="0"/>
              <a:t> → UI upload — each module tested independently before integration.</a:t>
            </a:r>
          </a:p>
          <a:p>
            <a:pPr marL="342900" lvl="0" indent="-342900" rtl="0">
              <a:buFont typeface="Arial" panose="020B0604020202020204" pitchFamily="34" charset="0"/>
              <a:buChar char="•"/>
            </a:pPr>
            <a:r>
              <a:rPr lang="en-IN" sz="2400" dirty="0"/>
              <a:t>Use a </a:t>
            </a:r>
            <a:r>
              <a:rPr lang="en-IN" sz="2400" dirty="0" err="1"/>
              <a:t>defense</a:t>
            </a:r>
            <a:r>
              <a:rPr lang="en-IN" sz="2400" dirty="0"/>
              <a:t>-in-depth model: enforce access rules at the database query level and re-verify them in application code, so no single point of failure can leak data.</a:t>
            </a:r>
          </a:p>
          <a:p>
            <a:pPr marL="342900" lvl="0" indent="-342900" rtl="0">
              <a:buFont typeface="Arial" panose="020B0604020202020204" pitchFamily="34" charset="0"/>
              <a:buChar char="•"/>
            </a:pPr>
            <a:r>
              <a:rPr lang="en-IN" sz="2400" dirty="0"/>
              <a:t>Validate the system empirically by testing the same query across multiple user roles and confirming that responses differ correctly based on access rights.</a:t>
            </a:r>
          </a:p>
        </p:txBody>
      </p:sp>
    </p:spTree>
    <p:extLst>
      <p:ext uri="{BB962C8B-B14F-4D97-AF65-F5344CB8AC3E}">
        <p14:creationId xmlns:p14="http://schemas.microsoft.com/office/powerpoint/2010/main" val="2581622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6446EF7-A968-F538-0387-443E16FFE03F}"/>
              </a:ext>
            </a:extLst>
          </p:cNvPr>
          <p:cNvSpPr>
            <a:spLocks noGrp="1"/>
          </p:cNvSpPr>
          <p:nvPr>
            <p:ph type="body" sz="quarter" idx="15"/>
          </p:nvPr>
        </p:nvSpPr>
        <p:spPr/>
        <p:txBody>
          <a:bodyPr/>
          <a:lstStyle/>
          <a:p>
            <a:pPr marL="0" indent="0">
              <a:buNone/>
            </a:pPr>
            <a:r>
              <a:rPr lang="en-IN" dirty="0"/>
              <a:t>Data Preprocessing</a:t>
            </a:r>
          </a:p>
        </p:txBody>
      </p:sp>
      <p:sp>
        <p:nvSpPr>
          <p:cNvPr id="7" name="TextBox 6">
            <a:extLst>
              <a:ext uri="{FF2B5EF4-FFF2-40B4-BE49-F238E27FC236}">
                <a16:creationId xmlns:a16="http://schemas.microsoft.com/office/drawing/2014/main" id="{8A9CD9BE-93FE-D496-D7E9-742963631C26}"/>
              </a:ext>
            </a:extLst>
          </p:cNvPr>
          <p:cNvSpPr txBox="1"/>
          <p:nvPr/>
        </p:nvSpPr>
        <p:spPr>
          <a:xfrm>
            <a:off x="522514" y="1520785"/>
            <a:ext cx="11430000" cy="4154984"/>
          </a:xfrm>
          <a:prstGeom prst="rect">
            <a:avLst/>
          </a:prstGeom>
          <a:noFill/>
        </p:spPr>
        <p:txBody>
          <a:bodyPr wrap="square">
            <a:spAutoFit/>
          </a:bodyPr>
          <a:lstStyle/>
          <a:p>
            <a:pPr marL="342900" lvl="0" indent="-342900">
              <a:buFont typeface="Arial" panose="020B0604020202020204" pitchFamily="34" charset="0"/>
              <a:buChar char="•"/>
            </a:pPr>
            <a:r>
              <a:rPr lang="en-IN" sz="2400" dirty="0"/>
              <a:t>Source documents are synthetic enterprise text files (policies, reports, memos) tagged with department and confidentiality level, plus user-uploaded files (.txt, .md, .csv, .</a:t>
            </a:r>
            <a:r>
              <a:rPr lang="en-IN" sz="2400" dirty="0" err="1"/>
              <a:t>json</a:t>
            </a:r>
            <a:r>
              <a:rPr lang="en-IN" sz="2400" dirty="0"/>
              <a:t>, .docx, .pdf).</a:t>
            </a:r>
          </a:p>
          <a:p>
            <a:pPr marL="342900" lvl="0" indent="-342900">
              <a:buFont typeface="Arial" panose="020B0604020202020204" pitchFamily="34" charset="0"/>
              <a:buChar char="•"/>
            </a:pPr>
            <a:r>
              <a:rPr lang="en-IN" sz="2400" dirty="0"/>
              <a:t>Text extraction: plain text read directly; .docx parsed via XML extraction; .pdf parsed via </a:t>
            </a:r>
            <a:r>
              <a:rPr lang="en-IN" sz="2400" dirty="0" err="1"/>
              <a:t>pypdf</a:t>
            </a:r>
            <a:r>
              <a:rPr lang="en-IN" sz="2400" dirty="0"/>
              <a:t>.</a:t>
            </a:r>
          </a:p>
          <a:p>
            <a:pPr marL="342900" lvl="0" indent="-342900">
              <a:buFont typeface="Arial" panose="020B0604020202020204" pitchFamily="34" charset="0"/>
              <a:buChar char="•"/>
            </a:pPr>
            <a:r>
              <a:rPr lang="en-IN" sz="2400" dirty="0"/>
              <a:t>Documents are chunked using a sliding-window character splitter (500-character chunks, 80-character overlap) to preserve context across chunk boundaries.</a:t>
            </a:r>
          </a:p>
          <a:p>
            <a:pPr marL="342900" lvl="0" indent="-342900">
              <a:buFont typeface="Arial" panose="020B0604020202020204" pitchFamily="34" charset="0"/>
              <a:buChar char="•"/>
            </a:pPr>
            <a:r>
              <a:rPr lang="en-IN" sz="2400" dirty="0"/>
              <a:t>Each chunk retains its parent document's metadata — department and confidentiality level — so access control can be applied at the chunk level, not just the document level.</a:t>
            </a:r>
          </a:p>
          <a:p>
            <a:pPr marL="342900" lvl="0" indent="-342900">
              <a:buFont typeface="Arial" panose="020B0604020202020204" pitchFamily="34" charset="0"/>
              <a:buChar char="•"/>
            </a:pPr>
            <a:r>
              <a:rPr lang="en-IN" sz="2400" dirty="0"/>
              <a:t>Chunks are embedded locally using a sentence-transformer model (all-MiniLM-L6-v2), requiring no external API call for this step.</a:t>
            </a:r>
          </a:p>
        </p:txBody>
      </p:sp>
    </p:spTree>
    <p:extLst>
      <p:ext uri="{BB962C8B-B14F-4D97-AF65-F5344CB8AC3E}">
        <p14:creationId xmlns:p14="http://schemas.microsoft.com/office/powerpoint/2010/main" val="942243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B8792-D7E6-6790-E5F3-E23DE49CD2B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08E9459-C053-8B79-A9A2-D31F9A03FEAA}"/>
              </a:ext>
            </a:extLst>
          </p:cNvPr>
          <p:cNvSpPr>
            <a:spLocks noGrp="1"/>
          </p:cNvSpPr>
          <p:nvPr>
            <p:ph type="body" sz="quarter" idx="15"/>
          </p:nvPr>
        </p:nvSpPr>
        <p:spPr/>
        <p:txBody>
          <a:bodyPr/>
          <a:lstStyle/>
          <a:p>
            <a:pPr marL="0" indent="0">
              <a:buNone/>
            </a:pPr>
            <a:r>
              <a:rPr lang="en-IN" dirty="0"/>
              <a:t>Approach / Algorithms / Tools</a:t>
            </a:r>
          </a:p>
        </p:txBody>
      </p:sp>
      <p:sp>
        <p:nvSpPr>
          <p:cNvPr id="7" name="TextBox 6">
            <a:extLst>
              <a:ext uri="{FF2B5EF4-FFF2-40B4-BE49-F238E27FC236}">
                <a16:creationId xmlns:a16="http://schemas.microsoft.com/office/drawing/2014/main" id="{4A57E701-9B61-2132-FDBA-197A95858CDC}"/>
              </a:ext>
            </a:extLst>
          </p:cNvPr>
          <p:cNvSpPr txBox="1"/>
          <p:nvPr/>
        </p:nvSpPr>
        <p:spPr>
          <a:xfrm>
            <a:off x="522514" y="1194214"/>
            <a:ext cx="11430000" cy="4893647"/>
          </a:xfrm>
          <a:prstGeom prst="rect">
            <a:avLst/>
          </a:prstGeom>
          <a:noFill/>
        </p:spPr>
        <p:txBody>
          <a:bodyPr wrap="square">
            <a:spAutoFit/>
          </a:bodyPr>
          <a:lstStyle/>
          <a:p>
            <a:pPr lvl="0"/>
            <a:r>
              <a:rPr lang="en-IN" sz="2400" b="1" dirty="0"/>
              <a:t>Embeddings:</a:t>
            </a:r>
            <a:r>
              <a:rPr lang="en-IN" sz="2400" dirty="0"/>
              <a:t> Sentence-Transformers (all-MiniLM-L6-v2) for local, free semantic vector generation.</a:t>
            </a:r>
          </a:p>
          <a:p>
            <a:pPr lvl="0"/>
            <a:r>
              <a:rPr lang="en-IN" sz="2400" b="1" dirty="0"/>
              <a:t>Vector storage &amp; search:</a:t>
            </a:r>
            <a:r>
              <a:rPr lang="en-IN" sz="2400" dirty="0"/>
              <a:t> </a:t>
            </a:r>
            <a:r>
              <a:rPr lang="en-IN" sz="2400" dirty="0" err="1"/>
              <a:t>ChromaDB</a:t>
            </a:r>
            <a:r>
              <a:rPr lang="en-IN" sz="2400" dirty="0"/>
              <a:t>, with metadata filtering (department, confidentiality level) applied at query time.</a:t>
            </a:r>
          </a:p>
          <a:p>
            <a:pPr lvl="0"/>
            <a:r>
              <a:rPr lang="en-IN" sz="2400" b="1" dirty="0"/>
              <a:t>Access control algorithm:</a:t>
            </a:r>
            <a:r>
              <a:rPr lang="en-IN" sz="2400" dirty="0"/>
              <a:t> rule-based RBAC — a role is granted access only if both its allowed-department set and its confidentiality ceiling are satisfied.</a:t>
            </a:r>
          </a:p>
          <a:p>
            <a:pPr lvl="0"/>
            <a:r>
              <a:rPr lang="en-IN" sz="2400" b="1" dirty="0"/>
              <a:t>Answer generation:</a:t>
            </a:r>
            <a:r>
              <a:rPr lang="en-IN" sz="2400" dirty="0"/>
              <a:t> </a:t>
            </a:r>
            <a:r>
              <a:rPr lang="en-IN" sz="2400" dirty="0" err="1"/>
              <a:t>Groq</a:t>
            </a:r>
            <a:r>
              <a:rPr lang="en-IN" sz="2400" dirty="0"/>
              <a:t> API (Llama/GPT-OSS models) for grounded LLM responses; falls back to extractive answers (raw retrieved chunks) when no API key is configured.</a:t>
            </a:r>
          </a:p>
          <a:p>
            <a:pPr lvl="0"/>
            <a:r>
              <a:rPr lang="en-IN" sz="2400" b="1" dirty="0"/>
              <a:t>Authentication:</a:t>
            </a:r>
            <a:r>
              <a:rPr lang="en-IN" sz="2400" dirty="0"/>
              <a:t> PBKDF2-HMAC-SHA256 password hashing (200,000 iterations, per-user salt); OTP-based password reset (SHA-256 hashed, 10-minute expiry).</a:t>
            </a:r>
          </a:p>
          <a:p>
            <a:pPr lvl="0"/>
            <a:r>
              <a:rPr lang="en-IN" sz="2400" b="1" dirty="0"/>
              <a:t>Backend:</a:t>
            </a:r>
            <a:r>
              <a:rPr lang="en-IN" sz="2400" dirty="0"/>
              <a:t> Python, </a:t>
            </a:r>
            <a:r>
              <a:rPr lang="en-IN" sz="2400" dirty="0" err="1"/>
              <a:t>FastAPI</a:t>
            </a:r>
            <a:r>
              <a:rPr lang="en-IN" sz="2400" dirty="0"/>
              <a:t> (REST API layer).</a:t>
            </a:r>
          </a:p>
          <a:p>
            <a:pPr lvl="0"/>
            <a:r>
              <a:rPr lang="en-IN" sz="2400" b="1" dirty="0"/>
              <a:t>Frontend:</a:t>
            </a:r>
            <a:r>
              <a:rPr lang="en-IN" sz="2400" dirty="0"/>
              <a:t> Node.js, Express (server-rendered pages, session-based auth via HTTP-only cookies).</a:t>
            </a:r>
          </a:p>
        </p:txBody>
      </p:sp>
    </p:spTree>
    <p:extLst>
      <p:ext uri="{BB962C8B-B14F-4D97-AF65-F5344CB8AC3E}">
        <p14:creationId xmlns:p14="http://schemas.microsoft.com/office/powerpoint/2010/main" val="2076136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3D2A5-AB59-678D-39BA-A05051452B2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2894670-E82D-BCA2-D6F0-A7D46940CACB}"/>
              </a:ext>
            </a:extLst>
          </p:cNvPr>
          <p:cNvSpPr>
            <a:spLocks noGrp="1"/>
          </p:cNvSpPr>
          <p:nvPr>
            <p:ph type="body" sz="quarter" idx="15"/>
          </p:nvPr>
        </p:nvSpPr>
        <p:spPr/>
        <p:txBody>
          <a:bodyPr/>
          <a:lstStyle/>
          <a:p>
            <a:r>
              <a:rPr lang="en-IN" dirty="0"/>
              <a:t>Project Plan / Milestones Progress</a:t>
            </a:r>
          </a:p>
        </p:txBody>
      </p:sp>
      <p:sp>
        <p:nvSpPr>
          <p:cNvPr id="7" name="TextBox 6">
            <a:extLst>
              <a:ext uri="{FF2B5EF4-FFF2-40B4-BE49-F238E27FC236}">
                <a16:creationId xmlns:a16="http://schemas.microsoft.com/office/drawing/2014/main" id="{1FD1CFCF-44AE-BEEE-037F-D6E9B56D9108}"/>
              </a:ext>
            </a:extLst>
          </p:cNvPr>
          <p:cNvSpPr txBox="1"/>
          <p:nvPr/>
        </p:nvSpPr>
        <p:spPr>
          <a:xfrm>
            <a:off x="522514" y="1194214"/>
            <a:ext cx="11430000" cy="4708981"/>
          </a:xfrm>
          <a:prstGeom prst="rect">
            <a:avLst/>
          </a:prstGeom>
          <a:noFill/>
        </p:spPr>
        <p:txBody>
          <a:bodyPr wrap="square">
            <a:spAutoFit/>
          </a:bodyPr>
          <a:lstStyle/>
          <a:p>
            <a:pPr lvl="0" algn="just"/>
            <a:r>
              <a:rPr lang="en-IN" sz="2000" b="1" dirty="0"/>
              <a:t>Milestone 1 — Core RAG pipeline:</a:t>
            </a:r>
            <a:r>
              <a:rPr lang="en-IN" sz="2000" dirty="0"/>
              <a:t> document ingestion, chunking, embedding, and vector storage. </a:t>
            </a:r>
            <a:r>
              <a:rPr lang="en-IN" sz="2000" i="1" dirty="0"/>
              <a:t>Completed.</a:t>
            </a:r>
            <a:endParaRPr lang="en-IN" sz="2000" dirty="0"/>
          </a:p>
          <a:p>
            <a:pPr lvl="0" algn="just"/>
            <a:r>
              <a:rPr lang="en-IN" sz="2000" b="1" dirty="0"/>
              <a:t>Milestone 2 — RBAC engine:</a:t>
            </a:r>
            <a:r>
              <a:rPr lang="en-IN" sz="2000" dirty="0"/>
              <a:t> role/department/confidentiality model and access-check logic. </a:t>
            </a:r>
            <a:r>
              <a:rPr lang="en-IN" sz="2000" i="1" dirty="0"/>
              <a:t>Completed.</a:t>
            </a:r>
            <a:endParaRPr lang="en-IN" sz="2000" dirty="0"/>
          </a:p>
          <a:p>
            <a:pPr lvl="0" algn="just"/>
            <a:r>
              <a:rPr lang="en-IN" sz="2000" b="1" dirty="0"/>
              <a:t>Milestone 3 — RBAC-filtered retrieval:</a:t>
            </a:r>
            <a:r>
              <a:rPr lang="en-IN" sz="2000" dirty="0"/>
              <a:t> two-layer enforcement (database filter + application-level re-check). </a:t>
            </a:r>
            <a:r>
              <a:rPr lang="en-IN" sz="2000" i="1" dirty="0"/>
              <a:t>Completed.</a:t>
            </a:r>
            <a:endParaRPr lang="en-IN" sz="2000" dirty="0"/>
          </a:p>
          <a:p>
            <a:pPr lvl="0" algn="just"/>
            <a:r>
              <a:rPr lang="en-IN" sz="2000" b="1" dirty="0"/>
              <a:t>Milestone 4 — Authentication system:</a:t>
            </a:r>
            <a:r>
              <a:rPr lang="en-IN" sz="2000" dirty="0"/>
              <a:t> secure login, session tokens, password hashing. </a:t>
            </a:r>
            <a:r>
              <a:rPr lang="en-IN" sz="2000" i="1" dirty="0"/>
              <a:t>Completed.</a:t>
            </a:r>
            <a:endParaRPr lang="en-IN" sz="2000" dirty="0"/>
          </a:p>
          <a:p>
            <a:pPr lvl="0" algn="just"/>
            <a:r>
              <a:rPr lang="en-IN" sz="2000" b="1" dirty="0"/>
              <a:t>Milestone 5 — Full-stack interface:</a:t>
            </a:r>
            <a:r>
              <a:rPr lang="en-IN" sz="2000" dirty="0"/>
              <a:t> Node.js frontend with login, chat, and admin pages, connected to a </a:t>
            </a:r>
            <a:r>
              <a:rPr lang="en-IN" sz="2000" dirty="0" err="1"/>
              <a:t>FastAPI</a:t>
            </a:r>
            <a:r>
              <a:rPr lang="en-IN" sz="2000" dirty="0"/>
              <a:t> backend. </a:t>
            </a:r>
            <a:r>
              <a:rPr lang="en-IN" sz="2000" i="1" dirty="0"/>
              <a:t>Completed.</a:t>
            </a:r>
            <a:endParaRPr lang="en-IN" sz="2000" dirty="0"/>
          </a:p>
          <a:p>
            <a:pPr lvl="0" algn="just"/>
            <a:r>
              <a:rPr lang="en-IN" sz="2000" b="1" dirty="0"/>
              <a:t>Milestone 6 — Admin &amp; account management:</a:t>
            </a:r>
            <a:r>
              <a:rPr lang="en-IN" sz="2000" dirty="0"/>
              <a:t> user creation/removal, account enable/disable, login audit log with CSV export. </a:t>
            </a:r>
            <a:r>
              <a:rPr lang="en-IN" sz="2000" i="1" dirty="0"/>
              <a:t>Completed.</a:t>
            </a:r>
            <a:endParaRPr lang="en-IN" sz="2000" dirty="0"/>
          </a:p>
          <a:p>
            <a:pPr lvl="0" algn="just"/>
            <a:r>
              <a:rPr lang="en-IN" sz="2000" b="1" dirty="0"/>
              <a:t>Milestone 7 — Account recovery:</a:t>
            </a:r>
            <a:r>
              <a:rPr lang="en-IN" sz="2000" dirty="0"/>
              <a:t> OTP-based forgot-password flow with email delivery (and a demo-mode fallback). </a:t>
            </a:r>
            <a:r>
              <a:rPr lang="en-IN" sz="2000" i="1" dirty="0"/>
              <a:t>Completed.</a:t>
            </a:r>
            <a:endParaRPr lang="en-IN" sz="2000" dirty="0"/>
          </a:p>
          <a:p>
            <a:pPr lvl="0" algn="just"/>
            <a:r>
              <a:rPr lang="en-IN" sz="2000" b="1" dirty="0"/>
              <a:t>Milestone 8 — Document upload:</a:t>
            </a:r>
            <a:r>
              <a:rPr lang="en-IN" sz="2000" dirty="0"/>
              <a:t> in-UI upload with immediate indexing, permission-scoped to each role. </a:t>
            </a:r>
            <a:r>
              <a:rPr lang="en-IN" sz="2000" i="1" dirty="0"/>
              <a:t>Completed.</a:t>
            </a:r>
            <a:endParaRPr lang="en-IN" sz="2000" dirty="0"/>
          </a:p>
          <a:p>
            <a:pPr lvl="0" algn="just"/>
            <a:r>
              <a:rPr lang="en-IN" sz="2000" b="1" dirty="0"/>
              <a:t>Milestone 9 — Deployment:</a:t>
            </a:r>
            <a:r>
              <a:rPr lang="en-IN" sz="2000" dirty="0"/>
              <a:t> containerized deployment to Railway with persistent storage. </a:t>
            </a:r>
            <a:r>
              <a:rPr lang="en-IN" sz="2000" i="1" dirty="0"/>
              <a:t>In progress.</a:t>
            </a:r>
            <a:endParaRPr lang="en-IN" sz="2000" dirty="0"/>
          </a:p>
        </p:txBody>
      </p:sp>
    </p:spTree>
    <p:extLst>
      <p:ext uri="{BB962C8B-B14F-4D97-AF65-F5344CB8AC3E}">
        <p14:creationId xmlns:p14="http://schemas.microsoft.com/office/powerpoint/2010/main" val="2970092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D645D-7F0F-1093-C5D8-BC571D806E5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3EF7D17-4F3B-91F6-560E-17E866C86EC3}"/>
              </a:ext>
            </a:extLst>
          </p:cNvPr>
          <p:cNvSpPr>
            <a:spLocks noGrp="1"/>
          </p:cNvSpPr>
          <p:nvPr>
            <p:ph type="body" sz="quarter" idx="15"/>
          </p:nvPr>
        </p:nvSpPr>
        <p:spPr/>
        <p:txBody>
          <a:bodyPr/>
          <a:lstStyle/>
          <a:p>
            <a:r>
              <a:rPr lang="en-IN" dirty="0"/>
              <a:t>Pipeline Structure</a:t>
            </a:r>
          </a:p>
        </p:txBody>
      </p:sp>
      <p:sp>
        <p:nvSpPr>
          <p:cNvPr id="7" name="TextBox 6">
            <a:extLst>
              <a:ext uri="{FF2B5EF4-FFF2-40B4-BE49-F238E27FC236}">
                <a16:creationId xmlns:a16="http://schemas.microsoft.com/office/drawing/2014/main" id="{4D918F0D-431D-CD05-209F-76A2BD6CCEE4}"/>
              </a:ext>
            </a:extLst>
          </p:cNvPr>
          <p:cNvSpPr txBox="1"/>
          <p:nvPr/>
        </p:nvSpPr>
        <p:spPr>
          <a:xfrm>
            <a:off x="522514" y="1194214"/>
            <a:ext cx="11430000" cy="4708981"/>
          </a:xfrm>
          <a:prstGeom prst="rect">
            <a:avLst/>
          </a:prstGeom>
          <a:noFill/>
        </p:spPr>
        <p:txBody>
          <a:bodyPr wrap="square">
            <a:spAutoFit/>
          </a:bodyPr>
          <a:lstStyle/>
          <a:p>
            <a:pPr lvl="0"/>
            <a:r>
              <a:rPr lang="en-IN" sz="2000" b="1" dirty="0"/>
              <a:t>Step 1 — Authentication:</a:t>
            </a:r>
            <a:r>
              <a:rPr lang="en-IN" sz="2000" dirty="0"/>
              <a:t> user submits username + password → verified against a salted PBKDF2 hash → session token issued.</a:t>
            </a:r>
          </a:p>
          <a:p>
            <a:pPr lvl="0"/>
            <a:r>
              <a:rPr lang="en-IN" sz="2000" b="1" dirty="0"/>
              <a:t>Step 2 — Query submission:</a:t>
            </a:r>
            <a:r>
              <a:rPr lang="en-IN" sz="2000" dirty="0"/>
              <a:t> authenticated user submits a natural-language question through the chat interface.</a:t>
            </a:r>
          </a:p>
          <a:p>
            <a:pPr lvl="0"/>
            <a:r>
              <a:rPr lang="en-IN" sz="2000" b="1" dirty="0"/>
              <a:t>Step 3 — Embedding:</a:t>
            </a:r>
            <a:r>
              <a:rPr lang="en-IN" sz="2000" dirty="0"/>
              <a:t> the question is embedded using the same sentence-transformer model used for document chunks.</a:t>
            </a:r>
          </a:p>
          <a:p>
            <a:pPr lvl="0"/>
            <a:r>
              <a:rPr lang="en-IN" sz="2000" b="1" dirty="0"/>
              <a:t>Step 4 — RBAC-filtered vector search:</a:t>
            </a:r>
            <a:r>
              <a:rPr lang="en-IN" sz="2000" dirty="0"/>
              <a:t> </a:t>
            </a:r>
            <a:r>
              <a:rPr lang="en-IN" sz="2000" dirty="0" err="1"/>
              <a:t>ChromaDB</a:t>
            </a:r>
            <a:r>
              <a:rPr lang="en-IN" sz="2000" dirty="0"/>
              <a:t> is queried with a metadata filter restricting results to the user's allowed departments and confidentiality ceiling.</a:t>
            </a:r>
          </a:p>
          <a:p>
            <a:pPr lvl="0"/>
            <a:r>
              <a:rPr lang="en-IN" sz="2000" b="1" dirty="0"/>
              <a:t>Step 5 — Post-filter verification:</a:t>
            </a:r>
            <a:r>
              <a:rPr lang="en-IN" sz="2000" dirty="0"/>
              <a:t> returned chunks are re-checked in application code against the same access rules before proceeding.</a:t>
            </a:r>
          </a:p>
          <a:p>
            <a:pPr lvl="0"/>
            <a:r>
              <a:rPr lang="en-IN" sz="2000" b="1" dirty="0"/>
              <a:t>Step 6 — Answer generation:</a:t>
            </a:r>
            <a:r>
              <a:rPr lang="en-IN" sz="2000" dirty="0"/>
              <a:t> approved chunks are passed to the LLM (</a:t>
            </a:r>
            <a:r>
              <a:rPr lang="en-IN" sz="2000" dirty="0" err="1"/>
              <a:t>Groq</a:t>
            </a:r>
            <a:r>
              <a:rPr lang="en-IN" sz="2000" dirty="0"/>
              <a:t>) with instructions to answer only from the given context and cite sources; falls back to extractive display if no LLM is configured.</a:t>
            </a:r>
          </a:p>
          <a:p>
            <a:pPr lvl="0"/>
            <a:r>
              <a:rPr lang="en-IN" sz="2000" b="1" dirty="0"/>
              <a:t>Step 7 — Response delivery:</a:t>
            </a:r>
            <a:r>
              <a:rPr lang="en-IN" sz="2000" dirty="0"/>
              <a:t> the answer, its sources, and a count of any withheld (access-denied) results are returned to the user interface.</a:t>
            </a:r>
          </a:p>
          <a:p>
            <a:pPr lvl="0"/>
            <a:r>
              <a:rPr lang="en-IN" sz="2000" b="1" dirty="0"/>
              <a:t>Step 8 — Audit logging:</a:t>
            </a:r>
            <a:r>
              <a:rPr lang="en-IN" sz="2000" dirty="0"/>
              <a:t> the query, user, and retrieval outcome are recorded for administrative review.</a:t>
            </a:r>
          </a:p>
        </p:txBody>
      </p:sp>
    </p:spTree>
    <p:extLst>
      <p:ext uri="{BB962C8B-B14F-4D97-AF65-F5344CB8AC3E}">
        <p14:creationId xmlns:p14="http://schemas.microsoft.com/office/powerpoint/2010/main" val="1815552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372140" y="1429138"/>
            <a:ext cx="10508194" cy="444565"/>
          </a:xfrm>
        </p:spPr>
        <p:txBody>
          <a:bodyPr/>
          <a:lstStyle/>
          <a:p>
            <a:pPr marL="0" indent="0">
              <a:buNone/>
            </a:pPr>
            <a:r>
              <a:rPr lang="en-US" dirty="0">
                <a:solidFill>
                  <a:srgbClr val="5583D1"/>
                </a:solidFill>
                <a:latin typeface="+mn-lt"/>
              </a:rPr>
              <a:t> Document Loading, Cleaning, and Segmentation</a:t>
            </a:r>
          </a:p>
          <a:p>
            <a:pPr marL="0" indent="0">
              <a:buNone/>
            </a:pPr>
            <a:endParaRPr lang="en-US" dirty="0">
              <a:solidFill>
                <a:srgbClr val="5583D1"/>
              </a:solidFill>
              <a:latin typeface="+mn-lt"/>
            </a:endParaRPr>
          </a:p>
          <a:p>
            <a:pPr lvl="1" algn="just"/>
            <a:r>
              <a:rPr lang="en-US" sz="2800" dirty="0">
                <a:solidFill>
                  <a:srgbClr val="2A2E43"/>
                </a:solidFill>
                <a:ea typeface="Calibri" pitchFamily="34" charset="-122"/>
                <a:cs typeface="Calibri" pitchFamily="34" charset="-120"/>
              </a:rPr>
              <a:t>Synthetic enterprise documents are generated across departments and confidentiality levels. Each document is split into overlapping character-based chunks, and every chunk retains metadata linking it back to its department and confidentiality level for later access control.</a:t>
            </a:r>
            <a:endParaRPr lang="en-US" sz="2800" dirty="0"/>
          </a:p>
          <a:p>
            <a:pPr lvl="1"/>
            <a:endParaRPr lang="en-US" dirty="0">
              <a:solidFill>
                <a:srgbClr val="1C3898"/>
              </a:solidFill>
            </a:endParaRP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1. </a:t>
            </a:r>
            <a:r>
              <a:rPr lang="en-US" sz="3600" b="1" dirty="0">
                <a:solidFill>
                  <a:srgbClr val="5B9BD5">
                    <a:lumMod val="50000"/>
                  </a:srgbClr>
                </a:solidFill>
              </a:rPr>
              <a:t>Data Ingestion &amp; Chunking</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CAE54CC-2EB2-26E6-12F9-36ECBF945EDD}"/>
              </a:ext>
            </a:extLst>
          </p:cNvPr>
          <p:cNvSpPr txBox="1"/>
          <p:nvPr/>
        </p:nvSpPr>
        <p:spPr>
          <a:xfrm>
            <a:off x="4091234"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Rectangle 6">
            <a:extLst>
              <a:ext uri="{FF2B5EF4-FFF2-40B4-BE49-F238E27FC236}">
                <a16:creationId xmlns:a16="http://schemas.microsoft.com/office/drawing/2014/main" id="{7BDD8723-FBD3-689C-E246-39F806E767DC}"/>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8222288F-2592-2931-9AB9-460C9363F6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A00AA-51F2-8125-FC5F-E29D327E703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2AB5B8-02D7-2681-5164-9143E9DE3E9A}"/>
              </a:ext>
            </a:extLst>
          </p:cNvPr>
          <p:cNvSpPr>
            <a:spLocks noGrp="1"/>
          </p:cNvSpPr>
          <p:nvPr>
            <p:ph type="body" sz="quarter" idx="13"/>
          </p:nvPr>
        </p:nvSpPr>
        <p:spPr>
          <a:xfrm>
            <a:off x="372140" y="1429138"/>
            <a:ext cx="10508194" cy="444565"/>
          </a:xfrm>
        </p:spPr>
        <p:txBody>
          <a:bodyPr/>
          <a:lstStyle/>
          <a:p>
            <a:pPr marL="0" indent="0">
              <a:buNone/>
            </a:pPr>
            <a:r>
              <a:rPr lang="en-US" dirty="0">
                <a:solidFill>
                  <a:srgbClr val="5583D1"/>
                </a:solidFill>
                <a:latin typeface="+mn-lt"/>
              </a:rPr>
              <a:t> </a:t>
            </a:r>
            <a:r>
              <a:rPr lang="en-US" dirty="0" err="1">
                <a:solidFill>
                  <a:srgbClr val="5583D1"/>
                </a:solidFill>
                <a:latin typeface="+mn-lt"/>
              </a:rPr>
              <a:t>ChromaDB</a:t>
            </a:r>
            <a:r>
              <a:rPr lang="en-US" dirty="0">
                <a:solidFill>
                  <a:srgbClr val="5583D1"/>
                </a:solidFill>
                <a:latin typeface="+mn-lt"/>
              </a:rPr>
              <a:t> with Metadata-Tagged Embeddings</a:t>
            </a:r>
          </a:p>
          <a:p>
            <a:pPr marL="0" indent="0">
              <a:buNone/>
            </a:pPr>
            <a:endParaRPr lang="en-US" dirty="0">
              <a:solidFill>
                <a:srgbClr val="5583D1"/>
              </a:solidFill>
              <a:latin typeface="+mn-lt"/>
            </a:endParaRPr>
          </a:p>
          <a:p>
            <a:pPr lvl="1" algn="just"/>
            <a:r>
              <a:rPr lang="en-US" sz="2800" dirty="0">
                <a:solidFill>
                  <a:srgbClr val="2A2E43"/>
                </a:solidFill>
                <a:latin typeface="Calibri" pitchFamily="34" charset="0"/>
                <a:ea typeface="Calibri" pitchFamily="34" charset="-122"/>
                <a:cs typeface="Calibri" pitchFamily="34" charset="-120"/>
              </a:rPr>
              <a:t>Each chunk is embedded using a local sentence-transformer model and stored in a persistent </a:t>
            </a:r>
            <a:r>
              <a:rPr lang="en-US" sz="2800" dirty="0" err="1">
                <a:solidFill>
                  <a:srgbClr val="2A2E43"/>
                </a:solidFill>
                <a:latin typeface="Calibri" pitchFamily="34" charset="0"/>
                <a:ea typeface="Calibri" pitchFamily="34" charset="-122"/>
                <a:cs typeface="Calibri" pitchFamily="34" charset="-120"/>
              </a:rPr>
              <a:t>ChromaDB</a:t>
            </a:r>
            <a:r>
              <a:rPr lang="en-US" sz="2800" dirty="0">
                <a:solidFill>
                  <a:srgbClr val="2A2E43"/>
                </a:solidFill>
                <a:latin typeface="Calibri" pitchFamily="34" charset="0"/>
                <a:ea typeface="Calibri" pitchFamily="34" charset="-122"/>
                <a:cs typeface="Calibri" pitchFamily="34" charset="-120"/>
              </a:rPr>
              <a:t> collection. Every embedding is stored alongside department and confidentiality metadata, enabling metadata-based filtering during search.</a:t>
            </a:r>
            <a:endParaRPr lang="en-US" dirty="0">
              <a:solidFill>
                <a:srgbClr val="1C3898"/>
              </a:solidFill>
            </a:endParaRPr>
          </a:p>
        </p:txBody>
      </p:sp>
      <p:sp>
        <p:nvSpPr>
          <p:cNvPr id="3" name="TextBox 2">
            <a:extLst>
              <a:ext uri="{FF2B5EF4-FFF2-40B4-BE49-F238E27FC236}">
                <a16:creationId xmlns:a16="http://schemas.microsoft.com/office/drawing/2014/main" id="{E797C6E4-46C6-EFB7-91E2-E784E95763C9}"/>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2. </a:t>
            </a:r>
            <a:r>
              <a:rPr lang="en-US" sz="3600" b="1" dirty="0">
                <a:solidFill>
                  <a:srgbClr val="5B9BD5">
                    <a:lumMod val="50000"/>
                  </a:srgbClr>
                </a:solidFill>
              </a:rPr>
              <a:t>Vector Database &amp; Embedding Storage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B8ABF908-A2CE-CF4E-FFF5-54A6ADF6689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B1C607C-667A-997A-4180-0B2860A63E88}"/>
              </a:ext>
            </a:extLst>
          </p:cNvPr>
          <p:cNvSpPr txBox="1"/>
          <p:nvPr/>
        </p:nvSpPr>
        <p:spPr>
          <a:xfrm>
            <a:off x="4091234"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Rectangle 6">
            <a:extLst>
              <a:ext uri="{FF2B5EF4-FFF2-40B4-BE49-F238E27FC236}">
                <a16:creationId xmlns:a16="http://schemas.microsoft.com/office/drawing/2014/main" id="{F1B2BFC0-931F-FBC5-E358-760279B9BF5E}"/>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571A73DB-881B-FA12-FD73-FCA54B4D06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449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23BEB-A551-59AB-8BB8-1BFE7952FFA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E06473B-A488-41E5-CA66-A10125330724}"/>
              </a:ext>
            </a:extLst>
          </p:cNvPr>
          <p:cNvSpPr>
            <a:spLocks noGrp="1"/>
          </p:cNvSpPr>
          <p:nvPr>
            <p:ph type="body" sz="quarter" idx="13"/>
          </p:nvPr>
        </p:nvSpPr>
        <p:spPr>
          <a:xfrm>
            <a:off x="372140" y="1429138"/>
            <a:ext cx="10508194" cy="444565"/>
          </a:xfrm>
        </p:spPr>
        <p:txBody>
          <a:bodyPr/>
          <a:lstStyle/>
          <a:p>
            <a:pPr marL="0" indent="0">
              <a:buNone/>
            </a:pPr>
            <a:r>
              <a:rPr lang="en-US" dirty="0">
                <a:solidFill>
                  <a:srgbClr val="5583D1"/>
                </a:solidFill>
                <a:latin typeface="+mn-lt"/>
              </a:rPr>
              <a:t>Roles, Departments, and Confidentiality Levels</a:t>
            </a:r>
          </a:p>
          <a:p>
            <a:pPr marL="0" indent="0">
              <a:buNone/>
            </a:pPr>
            <a:endParaRPr lang="en-US" dirty="0">
              <a:solidFill>
                <a:srgbClr val="5583D1"/>
              </a:solidFill>
              <a:latin typeface="+mn-lt"/>
            </a:endParaRPr>
          </a:p>
          <a:p>
            <a:pPr lvl="1" algn="just"/>
            <a:r>
              <a:rPr lang="en-US" sz="2800" dirty="0">
                <a:solidFill>
                  <a:srgbClr val="2A2E43"/>
                </a:solidFill>
                <a:latin typeface="Calibri" pitchFamily="34" charset="0"/>
                <a:ea typeface="Calibri" pitchFamily="34" charset="-122"/>
                <a:cs typeface="Calibri" pitchFamily="34" charset="-120"/>
              </a:rPr>
              <a:t>Nine roles, from Intern to Admin, are mapped to allowed departments and a maximum confidentiality ceiling. Access is granted only when both the department check and the confidentiality check pass, mirroring real enterprise access models.</a:t>
            </a:r>
            <a:endParaRPr lang="en-US" dirty="0">
              <a:solidFill>
                <a:srgbClr val="1C3898"/>
              </a:solidFill>
            </a:endParaRPr>
          </a:p>
        </p:txBody>
      </p:sp>
      <p:sp>
        <p:nvSpPr>
          <p:cNvPr id="3" name="TextBox 2">
            <a:extLst>
              <a:ext uri="{FF2B5EF4-FFF2-40B4-BE49-F238E27FC236}">
                <a16:creationId xmlns:a16="http://schemas.microsoft.com/office/drawing/2014/main" id="{6B0A5816-4DA1-2D68-822A-9D9773F5763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3. </a:t>
            </a:r>
            <a:r>
              <a:rPr lang="en-US" sz="3600" b="1" dirty="0">
                <a:solidFill>
                  <a:srgbClr val="5B9BD5">
                    <a:lumMod val="50000"/>
                  </a:srgbClr>
                </a:solidFill>
              </a:rPr>
              <a:t>RBAC Policy Engine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41097C01-08F6-10B8-B4C2-AD99CE2BCC53}"/>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26357B2-1EF2-B05F-79D3-E588447B376C}"/>
              </a:ext>
            </a:extLst>
          </p:cNvPr>
          <p:cNvSpPr txBox="1"/>
          <p:nvPr/>
        </p:nvSpPr>
        <p:spPr>
          <a:xfrm>
            <a:off x="4091234"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Rectangle 6">
            <a:extLst>
              <a:ext uri="{FF2B5EF4-FFF2-40B4-BE49-F238E27FC236}">
                <a16:creationId xmlns:a16="http://schemas.microsoft.com/office/drawing/2014/main" id="{55A4A912-549E-9024-111B-B922D89B81BD}"/>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DAC9D760-C3FC-A0D8-DBB5-7352460C99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19628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E9FC3-3FF5-C3D3-1E2C-32AC91C77B2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7B6FBDD-F926-9752-7B4F-27CEAADCE94C}"/>
              </a:ext>
            </a:extLst>
          </p:cNvPr>
          <p:cNvSpPr>
            <a:spLocks noGrp="1"/>
          </p:cNvSpPr>
          <p:nvPr>
            <p:ph type="body" sz="quarter" idx="13"/>
          </p:nvPr>
        </p:nvSpPr>
        <p:spPr>
          <a:xfrm>
            <a:off x="372140" y="1429138"/>
            <a:ext cx="10508194" cy="444565"/>
          </a:xfrm>
        </p:spPr>
        <p:txBody>
          <a:bodyPr/>
          <a:lstStyle/>
          <a:p>
            <a:pPr marL="0" indent="0">
              <a:buNone/>
            </a:pPr>
            <a:r>
              <a:rPr lang="en-US" dirty="0">
                <a:solidFill>
                  <a:srgbClr val="5583D1"/>
                </a:solidFill>
                <a:latin typeface="+mn-lt"/>
              </a:rPr>
              <a:t> Salted Password Hashing &amp; Session Tokens</a:t>
            </a:r>
          </a:p>
          <a:p>
            <a:pPr marL="0" indent="0">
              <a:buNone/>
            </a:pPr>
            <a:endParaRPr lang="en-US" dirty="0">
              <a:solidFill>
                <a:srgbClr val="5583D1"/>
              </a:solidFill>
              <a:latin typeface="+mn-lt"/>
            </a:endParaRPr>
          </a:p>
          <a:p>
            <a:pPr lvl="1" algn="just"/>
            <a:r>
              <a:rPr lang="en-US" sz="2800" dirty="0">
                <a:solidFill>
                  <a:srgbClr val="2A2E43"/>
                </a:solidFill>
                <a:latin typeface="Calibri" pitchFamily="34" charset="0"/>
                <a:ea typeface="Calibri" pitchFamily="34" charset="-122"/>
                <a:cs typeface="Calibri" pitchFamily="34" charset="-120"/>
              </a:rPr>
              <a:t>Salted Password Hashing &amp; Session </a:t>
            </a:r>
            <a:r>
              <a:rPr lang="en-US" sz="2800" dirty="0" err="1">
                <a:solidFill>
                  <a:srgbClr val="2A2E43"/>
                </a:solidFill>
                <a:latin typeface="Calibri" pitchFamily="34" charset="0"/>
                <a:ea typeface="Calibri" pitchFamily="34" charset="-122"/>
                <a:cs typeface="Calibri" pitchFamily="34" charset="-120"/>
              </a:rPr>
              <a:t>TokensUser</a:t>
            </a:r>
            <a:r>
              <a:rPr lang="en-US" sz="2800" dirty="0">
                <a:solidFill>
                  <a:srgbClr val="2A2E43"/>
                </a:solidFill>
                <a:latin typeface="Calibri" pitchFamily="34" charset="0"/>
                <a:ea typeface="Calibri" pitchFamily="34" charset="-122"/>
                <a:cs typeface="Calibri" pitchFamily="34" charset="-120"/>
              </a:rPr>
              <a:t> credentials are verified using PBKDF2-HMAC-SHA256 with a unique salt per user. A successful login issues a time-limited session token, and every login attempt — successful or failed — is recorded in an audit log.</a:t>
            </a:r>
            <a:endParaRPr lang="en-US" dirty="0">
              <a:solidFill>
                <a:srgbClr val="1C3898"/>
              </a:solidFill>
            </a:endParaRPr>
          </a:p>
        </p:txBody>
      </p:sp>
      <p:sp>
        <p:nvSpPr>
          <p:cNvPr id="3" name="TextBox 2">
            <a:extLst>
              <a:ext uri="{FF2B5EF4-FFF2-40B4-BE49-F238E27FC236}">
                <a16:creationId xmlns:a16="http://schemas.microsoft.com/office/drawing/2014/main" id="{EEE0A45A-3509-55A5-0ECB-9E15819190F4}"/>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4. </a:t>
            </a:r>
            <a:r>
              <a:rPr lang="en-US" sz="3600" b="1" dirty="0">
                <a:solidFill>
                  <a:srgbClr val="5B9BD5">
                    <a:lumMod val="50000"/>
                  </a:srgbClr>
                </a:solidFill>
              </a:rPr>
              <a:t>Secure Authentication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AF274488-6EC8-4661-62D6-D6DA942AE8A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8512103-A84C-9871-E5B3-2D380BB31501}"/>
              </a:ext>
            </a:extLst>
          </p:cNvPr>
          <p:cNvSpPr txBox="1"/>
          <p:nvPr/>
        </p:nvSpPr>
        <p:spPr>
          <a:xfrm>
            <a:off x="4091234"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Rectangle 6">
            <a:extLst>
              <a:ext uri="{FF2B5EF4-FFF2-40B4-BE49-F238E27FC236}">
                <a16:creationId xmlns:a16="http://schemas.microsoft.com/office/drawing/2014/main" id="{2E8CE4EE-D19B-3F51-20AD-4330F2A25032}"/>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C20F0E7A-B6C2-BAF3-0ED4-DF18D3BCC9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84669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857BC-0B59-D641-42D7-5EC9EE0D6A6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AD43E42-68BE-E7D9-92C6-894C9F14BFE5}"/>
              </a:ext>
            </a:extLst>
          </p:cNvPr>
          <p:cNvSpPr>
            <a:spLocks noGrp="1"/>
          </p:cNvSpPr>
          <p:nvPr>
            <p:ph type="body" sz="quarter" idx="13"/>
          </p:nvPr>
        </p:nvSpPr>
        <p:spPr>
          <a:xfrm>
            <a:off x="372140" y="1429138"/>
            <a:ext cx="10508194" cy="444565"/>
          </a:xfrm>
        </p:spPr>
        <p:txBody>
          <a:bodyPr/>
          <a:lstStyle/>
          <a:p>
            <a:pPr marL="0" indent="0">
              <a:buNone/>
            </a:pPr>
            <a:r>
              <a:rPr lang="en-US" dirty="0">
                <a:solidFill>
                  <a:srgbClr val="5583D1"/>
                </a:solidFill>
                <a:latin typeface="+mn-lt"/>
              </a:rPr>
              <a:t> Two-Layer Access Enforcement</a:t>
            </a:r>
          </a:p>
          <a:p>
            <a:pPr marL="0" indent="0">
              <a:buNone/>
            </a:pPr>
            <a:endParaRPr lang="en-US" dirty="0">
              <a:solidFill>
                <a:srgbClr val="5583D1"/>
              </a:solidFill>
              <a:latin typeface="+mn-lt"/>
            </a:endParaRPr>
          </a:p>
          <a:p>
            <a:pPr lvl="1" algn="just"/>
            <a:r>
              <a:rPr lang="en-US" sz="2800" dirty="0">
                <a:solidFill>
                  <a:srgbClr val="2A2E43"/>
                </a:solidFill>
                <a:latin typeface="Calibri" pitchFamily="34" charset="0"/>
                <a:ea typeface="Calibri" pitchFamily="34" charset="-122"/>
                <a:cs typeface="Calibri" pitchFamily="34" charset="-120"/>
              </a:rPr>
              <a:t>A user's query is filtered at the database level using a metadata WHERE clause, then re-checked in application code before any chunk reaches the language model. This defense-in-depth approach keeps unauthorized content out even if one layer is misconfigured.</a:t>
            </a:r>
            <a:endParaRPr lang="en-US" dirty="0">
              <a:solidFill>
                <a:srgbClr val="1C3898"/>
              </a:solidFill>
            </a:endParaRPr>
          </a:p>
        </p:txBody>
      </p:sp>
      <p:sp>
        <p:nvSpPr>
          <p:cNvPr id="3" name="TextBox 2">
            <a:extLst>
              <a:ext uri="{FF2B5EF4-FFF2-40B4-BE49-F238E27FC236}">
                <a16:creationId xmlns:a16="http://schemas.microsoft.com/office/drawing/2014/main" id="{5B6819DA-A2AB-BB7A-0C94-959C24A58AD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5. </a:t>
            </a:r>
            <a:r>
              <a:rPr lang="en-US" sz="3600" b="1" dirty="0">
                <a:solidFill>
                  <a:srgbClr val="5B9BD5">
                    <a:lumMod val="50000"/>
                  </a:srgbClr>
                </a:solidFill>
              </a:rPr>
              <a:t>RBAC-Filtered Retrieval</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DC925C36-CA53-8797-EB73-9543F85AF54C}"/>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7DB557F-E958-6C88-4A42-86ADD63209F1}"/>
              </a:ext>
            </a:extLst>
          </p:cNvPr>
          <p:cNvSpPr txBox="1"/>
          <p:nvPr/>
        </p:nvSpPr>
        <p:spPr>
          <a:xfrm>
            <a:off x="4091234"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Rectangle 6">
            <a:extLst>
              <a:ext uri="{FF2B5EF4-FFF2-40B4-BE49-F238E27FC236}">
                <a16:creationId xmlns:a16="http://schemas.microsoft.com/office/drawing/2014/main" id="{DBE57332-62A3-B9CD-5653-83AD99EFDEFE}"/>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888DD588-F436-0E73-4AA2-349DD8B687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27681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72A05-1F6C-08BC-2745-8EBFF8704FE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660CA3F-644B-7F8B-3166-5C786A3039DF}"/>
              </a:ext>
            </a:extLst>
          </p:cNvPr>
          <p:cNvSpPr>
            <a:spLocks noGrp="1"/>
          </p:cNvSpPr>
          <p:nvPr>
            <p:ph type="body" sz="quarter" idx="13"/>
          </p:nvPr>
        </p:nvSpPr>
        <p:spPr>
          <a:xfrm>
            <a:off x="372140" y="1429138"/>
            <a:ext cx="10508194" cy="444565"/>
          </a:xfrm>
        </p:spPr>
        <p:txBody>
          <a:bodyPr/>
          <a:lstStyle/>
          <a:p>
            <a:pPr marL="0" indent="0">
              <a:buNone/>
            </a:pPr>
            <a:r>
              <a:rPr lang="en-US" dirty="0">
                <a:solidFill>
                  <a:srgbClr val="5583D1"/>
                </a:solidFill>
                <a:latin typeface="+mn-lt"/>
              </a:rPr>
              <a:t>Grounded LLM Responses</a:t>
            </a:r>
          </a:p>
          <a:p>
            <a:pPr marL="0" indent="0">
              <a:buNone/>
            </a:pPr>
            <a:endParaRPr lang="en-US" dirty="0">
              <a:solidFill>
                <a:srgbClr val="5583D1"/>
              </a:solidFill>
              <a:latin typeface="+mn-lt"/>
            </a:endParaRPr>
          </a:p>
          <a:p>
            <a:pPr lvl="1" algn="just"/>
            <a:r>
              <a:rPr lang="en-US" sz="2800" dirty="0">
                <a:solidFill>
                  <a:srgbClr val="2A2E43"/>
                </a:solidFill>
                <a:latin typeface="Calibri" pitchFamily="34" charset="0"/>
                <a:ea typeface="Calibri" pitchFamily="34" charset="-122"/>
                <a:cs typeface="Calibri" pitchFamily="34" charset="-120"/>
              </a:rPr>
              <a:t>Only RBAC-approved chunks are passed to the language model, which is instructed to answer strictly from the provided context and cite sources. When no API key is configured, the system falls back to an extractive answer built directly from the retrieved chunks.</a:t>
            </a:r>
            <a:endParaRPr lang="en-US" dirty="0">
              <a:solidFill>
                <a:srgbClr val="1C3898"/>
              </a:solidFill>
            </a:endParaRPr>
          </a:p>
        </p:txBody>
      </p:sp>
      <p:sp>
        <p:nvSpPr>
          <p:cNvPr id="3" name="TextBox 2">
            <a:extLst>
              <a:ext uri="{FF2B5EF4-FFF2-40B4-BE49-F238E27FC236}">
                <a16:creationId xmlns:a16="http://schemas.microsoft.com/office/drawing/2014/main" id="{11E05005-A3AD-CF6A-51F3-CCD7AA9FDBB2}"/>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6. </a:t>
            </a:r>
            <a:r>
              <a:rPr lang="en-US" sz="3600" b="1" dirty="0">
                <a:solidFill>
                  <a:srgbClr val="5B9BD5">
                    <a:lumMod val="50000"/>
                  </a:srgbClr>
                </a:solidFill>
              </a:rPr>
              <a:t>RAG Answer Generation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D44761E6-8CC7-192B-C938-D5D587DA6D5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C07621B-EA72-2C3F-E707-AACB7F640472}"/>
              </a:ext>
            </a:extLst>
          </p:cNvPr>
          <p:cNvSpPr txBox="1"/>
          <p:nvPr/>
        </p:nvSpPr>
        <p:spPr>
          <a:xfrm>
            <a:off x="4091234"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Rectangle 6">
            <a:extLst>
              <a:ext uri="{FF2B5EF4-FFF2-40B4-BE49-F238E27FC236}">
                <a16:creationId xmlns:a16="http://schemas.microsoft.com/office/drawing/2014/main" id="{90F244FC-EB57-8FE0-8B2C-DD00D1322433}"/>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037856BF-388B-753F-2D15-8676B6B1C5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39975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D28A2-05D7-4FCD-3B9E-A48F90CB712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080C6DB-C118-2F02-8677-F3DF28DAD651}"/>
              </a:ext>
            </a:extLst>
          </p:cNvPr>
          <p:cNvSpPr>
            <a:spLocks noGrp="1"/>
          </p:cNvSpPr>
          <p:nvPr>
            <p:ph type="body" sz="quarter" idx="13"/>
          </p:nvPr>
        </p:nvSpPr>
        <p:spPr>
          <a:xfrm>
            <a:off x="372140" y="1429138"/>
            <a:ext cx="10508194" cy="444565"/>
          </a:xfrm>
        </p:spPr>
        <p:txBody>
          <a:bodyPr/>
          <a:lstStyle/>
          <a:p>
            <a:pPr marL="0" indent="0">
              <a:buNone/>
            </a:pPr>
            <a:r>
              <a:rPr lang="en-US" dirty="0">
                <a:solidFill>
                  <a:srgbClr val="5583D1"/>
                </a:solidFill>
                <a:latin typeface="+mn-lt"/>
              </a:rPr>
              <a:t>User Management and Login Monitoring</a:t>
            </a:r>
          </a:p>
          <a:p>
            <a:pPr marL="0" indent="0">
              <a:buNone/>
            </a:pPr>
            <a:endParaRPr lang="en-US" dirty="0">
              <a:solidFill>
                <a:srgbClr val="5583D1"/>
              </a:solidFill>
              <a:latin typeface="+mn-lt"/>
            </a:endParaRPr>
          </a:p>
          <a:p>
            <a:pPr lvl="1" algn="just"/>
            <a:r>
              <a:rPr lang="en-US" sz="2800" dirty="0">
                <a:solidFill>
                  <a:srgbClr val="2A2E43"/>
                </a:solidFill>
                <a:latin typeface="Calibri" pitchFamily="34" charset="0"/>
                <a:ea typeface="Calibri" pitchFamily="34" charset="-122"/>
                <a:cs typeface="Calibri" pitchFamily="34" charset="-120"/>
              </a:rPr>
              <a:t>Administrators can add or remove user accounts and assign roles through a dedicated panel. Every login attempt is logged with timestamp, username, result, and IP address, and the full history can be exported as a CSV file.</a:t>
            </a:r>
            <a:endParaRPr lang="en-US" dirty="0">
              <a:solidFill>
                <a:srgbClr val="1C3898"/>
              </a:solidFill>
            </a:endParaRPr>
          </a:p>
        </p:txBody>
      </p:sp>
      <p:sp>
        <p:nvSpPr>
          <p:cNvPr id="3" name="TextBox 2">
            <a:extLst>
              <a:ext uri="{FF2B5EF4-FFF2-40B4-BE49-F238E27FC236}">
                <a16:creationId xmlns:a16="http://schemas.microsoft.com/office/drawing/2014/main" id="{A220A575-A5D9-8425-3C05-30EEDE43F10F}"/>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7. </a:t>
            </a:r>
            <a:r>
              <a:rPr lang="en-US" sz="3600" b="1" dirty="0">
                <a:solidFill>
                  <a:srgbClr val="5B9BD5">
                    <a:lumMod val="50000"/>
                  </a:srgbClr>
                </a:solidFill>
              </a:rPr>
              <a:t>Admin &amp; Audit Module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8747BEF2-693B-178B-FD37-60AD38E69C76}"/>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AE6A186-81EF-F481-261F-B612DF447BA5}"/>
              </a:ext>
            </a:extLst>
          </p:cNvPr>
          <p:cNvSpPr txBox="1"/>
          <p:nvPr/>
        </p:nvSpPr>
        <p:spPr>
          <a:xfrm>
            <a:off x="4091234"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Rectangle 6">
            <a:extLst>
              <a:ext uri="{FF2B5EF4-FFF2-40B4-BE49-F238E27FC236}">
                <a16:creationId xmlns:a16="http://schemas.microsoft.com/office/drawing/2014/main" id="{9AD2CEFB-F775-257D-97A2-5FC8D21CA591}"/>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78F45002-822E-6B96-BF80-C0D0AE2795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01299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29C80-05A9-AAF8-8BAF-D5959AA916F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E09221B-83E0-9821-1C07-866607D80735}"/>
              </a:ext>
            </a:extLst>
          </p:cNvPr>
          <p:cNvSpPr>
            <a:spLocks noGrp="1"/>
          </p:cNvSpPr>
          <p:nvPr>
            <p:ph type="body" sz="quarter" idx="13"/>
          </p:nvPr>
        </p:nvSpPr>
        <p:spPr>
          <a:xfrm>
            <a:off x="372140" y="1429138"/>
            <a:ext cx="10508194" cy="444565"/>
          </a:xfrm>
        </p:spPr>
        <p:txBody>
          <a:bodyPr/>
          <a:lstStyle/>
          <a:p>
            <a:pPr marL="0" indent="0">
              <a:buNone/>
            </a:pPr>
            <a:r>
              <a:rPr lang="en-US" dirty="0">
                <a:solidFill>
                  <a:srgbClr val="5583D1"/>
                </a:solidFill>
                <a:latin typeface="+mn-lt"/>
              </a:rPr>
              <a:t>Express-Based User Interface</a:t>
            </a:r>
          </a:p>
          <a:p>
            <a:pPr marL="0" indent="0">
              <a:buNone/>
            </a:pPr>
            <a:endParaRPr lang="en-US" dirty="0">
              <a:solidFill>
                <a:srgbClr val="5583D1"/>
              </a:solidFill>
              <a:latin typeface="+mn-lt"/>
            </a:endParaRPr>
          </a:p>
          <a:p>
            <a:pPr lvl="1" algn="just"/>
            <a:r>
              <a:rPr lang="en-US" sz="2800" dirty="0">
                <a:solidFill>
                  <a:srgbClr val="2A2E43"/>
                </a:solidFill>
                <a:latin typeface="Calibri" pitchFamily="34" charset="0"/>
                <a:ea typeface="Calibri" pitchFamily="34" charset="-122"/>
                <a:cs typeface="Calibri" pitchFamily="34" charset="-120"/>
              </a:rPr>
              <a:t>A Node.js/Express server provides login, chat, and admin pages, proxying requests to the Python backend while keeping session tokens server-side. Answers render with Markdown formatting, and each source document displays its department and confidentiality label.</a:t>
            </a:r>
            <a:endParaRPr lang="en-US" dirty="0">
              <a:solidFill>
                <a:srgbClr val="1C3898"/>
              </a:solidFill>
            </a:endParaRPr>
          </a:p>
        </p:txBody>
      </p:sp>
      <p:sp>
        <p:nvSpPr>
          <p:cNvPr id="3" name="TextBox 2">
            <a:extLst>
              <a:ext uri="{FF2B5EF4-FFF2-40B4-BE49-F238E27FC236}">
                <a16:creationId xmlns:a16="http://schemas.microsoft.com/office/drawing/2014/main" id="{A5EF7021-586D-2CF8-47C8-9195150D5D44}"/>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8. </a:t>
            </a:r>
            <a:r>
              <a:rPr lang="en-US" sz="3600" b="1" dirty="0">
                <a:solidFill>
                  <a:srgbClr val="5B9BD5">
                    <a:lumMod val="50000"/>
                  </a:srgbClr>
                </a:solidFill>
              </a:rPr>
              <a:t>Web Frontend (Node.js)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2E44CA93-476B-2067-6524-327DEFFCBCC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A8F8C38-AC5A-2F62-8372-BDC174BA0408}"/>
              </a:ext>
            </a:extLst>
          </p:cNvPr>
          <p:cNvSpPr txBox="1"/>
          <p:nvPr/>
        </p:nvSpPr>
        <p:spPr>
          <a:xfrm>
            <a:off x="4091234"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Rectangle 6">
            <a:extLst>
              <a:ext uri="{FF2B5EF4-FFF2-40B4-BE49-F238E27FC236}">
                <a16:creationId xmlns:a16="http://schemas.microsoft.com/office/drawing/2014/main" id="{258C022B-B337-0E18-4125-F8797C661900}"/>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4B795FC3-D0EC-C2C5-A2F2-A7E5432530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10811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3237</TotalTime>
  <Words>1531</Words>
  <Application>Microsoft Office PowerPoint</Application>
  <PresentationFormat>Widescreen</PresentationFormat>
  <Paragraphs>126</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(Body)</vt:lpstr>
      <vt:lpstr>Frutiger 45 bold</vt:lpstr>
      <vt:lpstr>Frutiger LT Pro 45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Vinoth KannaS</cp:lastModifiedBy>
  <cp:revision>15</cp:revision>
  <dcterms:created xsi:type="dcterms:W3CDTF">2024-05-13T10:33:11Z</dcterms:created>
  <dcterms:modified xsi:type="dcterms:W3CDTF">2026-09-29T05:08:34Z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